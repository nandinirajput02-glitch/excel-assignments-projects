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ndini rajput" initials="nr" lastIdx="4" clrIdx="0">
    <p:extLst>
      <p:ext uri="{19B8F6BF-5375-455C-9EA6-DF929625EA0E}">
        <p15:presenceInfo xmlns:p15="http://schemas.microsoft.com/office/powerpoint/2012/main" userId="nandini rajpu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D2F"/>
    <a:srgbClr val="549E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41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71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50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54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53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824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23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61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91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678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1265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53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12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413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357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56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12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390" y="-1060173"/>
            <a:ext cx="10772002" cy="3467534"/>
          </a:xfrm>
        </p:spPr>
        <p:txBody>
          <a:bodyPr/>
          <a:lstStyle/>
          <a:p>
            <a:r>
              <a:rPr lang="en-US" sz="4800" b="1" dirty="0" smtClean="0">
                <a:solidFill>
                  <a:srgbClr val="549E39"/>
                </a:solidFill>
                <a:latin typeface="Algerian" panose="04020705040A02060702" pitchFamily="82" charset="0"/>
              </a:rPr>
              <a:t>Financial Analysis Using Excel</a:t>
            </a:r>
            <a:r>
              <a:rPr lang="en-US" sz="3200" dirty="0" smtClean="0">
                <a:solidFill>
                  <a:srgbClr val="549E39"/>
                </a:solidFill>
                <a:latin typeface="Algerian" panose="04020705040A02060702" pitchFamily="82" charset="0"/>
              </a:rPr>
              <a:t/>
            </a:r>
            <a:br>
              <a:rPr lang="en-US" sz="3200" dirty="0" smtClean="0">
                <a:solidFill>
                  <a:srgbClr val="549E39"/>
                </a:solidFill>
                <a:latin typeface="Algerian" panose="04020705040A02060702" pitchFamily="82" charset="0"/>
              </a:rPr>
            </a:br>
            <a:endParaRPr lang="en-US" sz="3200" dirty="0">
              <a:solidFill>
                <a:srgbClr val="549E39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99314" y="2026849"/>
            <a:ext cx="590731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Annuity &amp; Present Value </a:t>
            </a:r>
            <a:endParaRPr lang="en-US" altLang="en-US" sz="32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EMI </a:t>
            </a:r>
            <a:r>
              <a:rPr lang="en-US" altLang="en-US" sz="32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&amp; Loan Amortization </a:t>
            </a:r>
            <a:endParaRPr lang="en-US" altLang="en-US" sz="32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NPV </a:t>
            </a:r>
            <a:r>
              <a:rPr lang="en-US" altLang="en-US" sz="32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&amp; Investment Decisions </a:t>
            </a:r>
            <a:endParaRPr lang="en-US" altLang="en-US" sz="32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XNPV </a:t>
            </a:r>
            <a:r>
              <a:rPr lang="en-US" altLang="en-US" sz="32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&amp; XIRR </a:t>
            </a:r>
            <a:endParaRPr lang="en-US" altLang="en-US" sz="32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IRR </a:t>
            </a:r>
            <a:r>
              <a:rPr lang="en-US" altLang="en-US" sz="32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&amp; MIRR </a:t>
            </a:r>
            <a:endParaRPr lang="en-US" altLang="en-US" sz="32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Practical </a:t>
            </a:r>
            <a:r>
              <a:rPr lang="en-US" altLang="en-US" sz="32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Excel Applications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olonna MT" panose="04020805060202030203" pitchFamily="82" charset="0"/>
            </a:endParaRPr>
          </a:p>
        </p:txBody>
      </p:sp>
      <p:sp>
        <p:nvSpPr>
          <p:cNvPr id="7" name="Text Placeholder 3"/>
          <p:cNvSpPr txBox="1">
            <a:spLocks/>
          </p:cNvSpPr>
          <p:nvPr/>
        </p:nvSpPr>
        <p:spPr>
          <a:xfrm>
            <a:off x="757390" y="5342842"/>
            <a:ext cx="6134326" cy="76206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Gigi" panose="04040504061007020D02" pitchFamily="82" charset="0"/>
              </a:rPr>
              <a:t>Prepared by: Nandini Rajput </a:t>
            </a:r>
            <a:r>
              <a:rPr lang="en-US" sz="1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lonna MT" panose="04020805060202030203" pitchFamily="82" charset="0"/>
              </a:rPr>
              <a:t>(MBA – Finance | CMA)</a:t>
            </a:r>
            <a:endParaRPr lang="en-US" sz="1100" dirty="0" smtClean="0">
              <a:solidFill>
                <a:schemeClr val="accent1">
                  <a:lumMod val="20000"/>
                  <a:lumOff val="80000"/>
                </a:schemeClr>
              </a:solidFill>
              <a:latin typeface="Bell MT" panose="020205030603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1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Batch CX-198-MOR-AUG-2026 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Excel project guided by </a:t>
            </a:r>
            <a:r>
              <a:rPr lang="en-US" sz="11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Manju</a:t>
            </a:r>
            <a:endParaRPr lang="en-US" sz="1100" dirty="0" smtClean="0">
              <a:solidFill>
                <a:schemeClr val="accent1">
                  <a:lumMod val="20000"/>
                  <a:lumOff val="80000"/>
                </a:schemeClr>
              </a:solidFill>
              <a:latin typeface="Bell MT" panose="020205030603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24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7262774" y="5342842"/>
            <a:ext cx="5237412" cy="7471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Gigi" panose="04040504061007020D02" pitchFamily="82" charset="0"/>
              </a:rPr>
              <a:t>Project: financial analytics with </a:t>
            </a:r>
            <a:r>
              <a:rPr 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Gigi" panose="04040504061007020D02" pitchFamily="82" charset="0"/>
              </a:rPr>
              <a:t>AI </a:t>
            </a:r>
            <a:r>
              <a:rPr 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Harlow Solid Italic" panose="04030604020F02020D02" pitchFamily="82" charset="0"/>
              </a:rPr>
              <a:t>									</a:t>
            </a:r>
            <a:r>
              <a:rPr lang="en-US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Gigi" panose="04040504061007020D02" pitchFamily="82" charset="0"/>
              </a:rPr>
              <a:t>CoachX.live</a:t>
            </a:r>
            <a:endParaRPr lang="en-US" sz="20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Gigi" panose="04040504061007020D02" pitchFamily="82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90" y="2026849"/>
            <a:ext cx="4641925" cy="312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186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 advTm="3000">
        <p15:prstTrans prst="drap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rgbClr val="549E39"/>
                </a:solidFill>
                <a:latin typeface="Algerian" panose="04020705040A02060702" pitchFamily="82" charset="0"/>
              </a:rPr>
              <a:t>Annuity &amp; Present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165" y="2355124"/>
            <a:ext cx="10654748" cy="576262"/>
          </a:xfrm>
        </p:spPr>
        <p:txBody>
          <a:bodyPr/>
          <a:lstStyle/>
          <a:p>
            <a:pPr algn="ctr"/>
            <a:r>
              <a:rPr lang="en-US" sz="3200" dirty="0">
                <a:latin typeface="Colonna MT" panose="04020805060202030203" pitchFamily="82" charset="0"/>
              </a:rPr>
              <a:t>Annuity</a:t>
            </a:r>
            <a:endParaRPr lang="en-US" dirty="0">
              <a:latin typeface="Colonna MT" panose="04020805060202030203" pitchFamily="82" charset="0"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442366"/>
              </p:ext>
            </p:extLst>
          </p:nvPr>
        </p:nvGraphicFramePr>
        <p:xfrm>
          <a:off x="881339" y="2931386"/>
          <a:ext cx="10654747" cy="2640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0314">
                  <a:extLst>
                    <a:ext uri="{9D8B030D-6E8A-4147-A177-3AD203B41FA5}">
                      <a16:colId xmlns:a16="http://schemas.microsoft.com/office/drawing/2014/main" val="655505790"/>
                    </a:ext>
                  </a:extLst>
                </a:gridCol>
                <a:gridCol w="1464433">
                  <a:extLst>
                    <a:ext uri="{9D8B030D-6E8A-4147-A177-3AD203B41FA5}">
                      <a16:colId xmlns:a16="http://schemas.microsoft.com/office/drawing/2014/main" val="2672086457"/>
                    </a:ext>
                  </a:extLst>
                </a:gridCol>
              </a:tblGrid>
              <a:tr h="368640">
                <a:tc>
                  <a:txBody>
                    <a:bodyPr/>
                    <a:lstStyle/>
                    <a:p>
                      <a:r>
                        <a:rPr lang="en-US" dirty="0" smtClean="0"/>
                        <a:t>Particular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938889"/>
                  </a:ext>
                </a:extLst>
              </a:tr>
              <a:tr h="378645"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₹32,000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144251"/>
                  </a:ext>
                </a:extLst>
              </a:tr>
              <a:tr h="378645">
                <a:tc>
                  <a:txBody>
                    <a:bodyPr/>
                    <a:lstStyle/>
                    <a:p>
                      <a:r>
                        <a:rPr lang="en-US"/>
                        <a:t>Interest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250603"/>
                  </a:ext>
                </a:extLst>
              </a:tr>
              <a:tr h="378645">
                <a:tc>
                  <a:txBody>
                    <a:bodyPr/>
                    <a:lstStyle/>
                    <a:p>
                      <a:r>
                        <a:rPr lang="en-US"/>
                        <a:t>No. of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829719"/>
                  </a:ext>
                </a:extLst>
              </a:tr>
              <a:tr h="378645">
                <a:tc>
                  <a:txBody>
                    <a:bodyPr/>
                    <a:lstStyle/>
                    <a:p>
                      <a:r>
                        <a:rPr lang="en-US"/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-₹6,000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400082"/>
                  </a:ext>
                </a:extLst>
              </a:tr>
              <a:tr h="378645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Payments at end of the year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277266"/>
                  </a:ext>
                </a:extLst>
              </a:tr>
              <a:tr h="378645">
                <a:tc>
                  <a:txBody>
                    <a:bodyPr/>
                    <a:lstStyle/>
                    <a:p>
                      <a:r>
                        <a:rPr lang="en-US" dirty="0"/>
                        <a:t>Present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₹16,756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429372"/>
                  </a:ext>
                </a:extLst>
              </a:tr>
            </a:tbl>
          </a:graphicData>
        </a:graphic>
      </p:graphicFrame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1007165" y="5761508"/>
            <a:ext cx="10654748" cy="773300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“Excel 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Function: =PV(</a:t>
            </a:r>
            <a:r>
              <a:rPr lang="en-US" sz="1800" b="1" dirty="0" err="1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rate,nper,pmt,fv,type</a:t>
            </a: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)”</a:t>
            </a:r>
          </a:p>
          <a:p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Key Point: PV determines the current value of a series of future cash flows at a specified interest rate.</a:t>
            </a:r>
            <a:endParaRPr lang="en-US" sz="1400" b="1" dirty="0">
              <a:solidFill>
                <a:schemeClr val="accent2">
                  <a:lumMod val="50000"/>
                </a:schemeClr>
              </a:solidFill>
              <a:latin typeface="Bell MT" panose="020205030603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7108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617" y="762390"/>
            <a:ext cx="9822031" cy="728480"/>
          </a:xfrm>
        </p:spPr>
        <p:txBody>
          <a:bodyPr/>
          <a:lstStyle/>
          <a:p>
            <a:r>
              <a:rPr lang="en-US" sz="4400" dirty="0" smtClean="0">
                <a:solidFill>
                  <a:srgbClr val="549E39"/>
                </a:solidFill>
                <a:latin typeface="Algerian" panose="04020705040A02060702" pitchFamily="82" charset="0"/>
              </a:rPr>
              <a:t>EMI/PMT </a:t>
            </a:r>
            <a:r>
              <a:rPr lang="en-US" sz="4400" dirty="0">
                <a:solidFill>
                  <a:srgbClr val="549E39"/>
                </a:solidFill>
                <a:latin typeface="Algerian" panose="04020705040A02060702" pitchFamily="82" charset="0"/>
              </a:rPr>
              <a:t>Calculation Using Excel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72780683"/>
              </p:ext>
            </p:extLst>
          </p:nvPr>
        </p:nvGraphicFramePr>
        <p:xfrm>
          <a:off x="715616" y="3236929"/>
          <a:ext cx="5234609" cy="3184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6842">
                  <a:extLst>
                    <a:ext uri="{9D8B030D-6E8A-4147-A177-3AD203B41FA5}">
                      <a16:colId xmlns:a16="http://schemas.microsoft.com/office/drawing/2014/main" val="3446001337"/>
                    </a:ext>
                  </a:extLst>
                </a:gridCol>
                <a:gridCol w="2247767">
                  <a:extLst>
                    <a:ext uri="{9D8B030D-6E8A-4147-A177-3AD203B41FA5}">
                      <a16:colId xmlns:a16="http://schemas.microsoft.com/office/drawing/2014/main" val="1737277740"/>
                    </a:ext>
                  </a:extLst>
                </a:gridCol>
              </a:tblGrid>
              <a:tr h="4042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  <a:latin typeface="Century Gothic (Body)"/>
                        </a:rPr>
                        <a:t>Particular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  <a:latin typeface="Century Gothic (Body)"/>
                        </a:rPr>
                        <a:t>Value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6482275"/>
                  </a:ext>
                </a:extLst>
              </a:tr>
              <a:tr h="294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Rate per annum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0.12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9094270"/>
                  </a:ext>
                </a:extLst>
              </a:tr>
              <a:tr h="294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Rate per month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0.01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5878478"/>
                  </a:ext>
                </a:extLst>
              </a:tr>
              <a:tr h="294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Term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7568358"/>
                  </a:ext>
                </a:extLst>
              </a:tr>
              <a:tr h="472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No. of monthly payments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300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4012683"/>
                  </a:ext>
                </a:extLst>
              </a:tr>
              <a:tr h="40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Loan Amount (PV)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-5000000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35770247"/>
                  </a:ext>
                </a:extLst>
              </a:tr>
              <a:tr h="42624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FV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8461386"/>
                  </a:ext>
                </a:extLst>
              </a:tr>
              <a:tr h="294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Type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3609964"/>
                  </a:ext>
                </a:extLst>
              </a:tr>
              <a:tr h="294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EMI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  <a:latin typeface="Century Gothic (Body)"/>
                        </a:rPr>
                        <a:t>₹ 52,139.81</a:t>
                      </a:r>
                      <a:endParaRPr lang="en-US" sz="18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327352"/>
                  </a:ext>
                </a:extLst>
              </a:tr>
            </a:tbl>
          </a:graphicData>
        </a:graphic>
      </p:graphicFrame>
      <p:sp>
        <p:nvSpPr>
          <p:cNvPr id="6" name="Text Placeholder 2"/>
          <p:cNvSpPr txBox="1">
            <a:spLocks/>
          </p:cNvSpPr>
          <p:nvPr/>
        </p:nvSpPr>
        <p:spPr>
          <a:xfrm>
            <a:off x="1086677" y="2415292"/>
            <a:ext cx="4121426" cy="5762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lonna MT" panose="04020805060202030203" pitchFamily="82" charset="0"/>
              </a:rPr>
              <a:t>Long-Term Loan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Colonna MT" panose="04020805060202030203" pitchFamily="82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582362"/>
              </p:ext>
            </p:extLst>
          </p:nvPr>
        </p:nvGraphicFramePr>
        <p:xfrm>
          <a:off x="6194149" y="3174064"/>
          <a:ext cx="5176216" cy="3247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477">
                  <a:extLst>
                    <a:ext uri="{9D8B030D-6E8A-4147-A177-3AD203B41FA5}">
                      <a16:colId xmlns:a16="http://schemas.microsoft.com/office/drawing/2014/main" val="3948714930"/>
                    </a:ext>
                  </a:extLst>
                </a:gridCol>
                <a:gridCol w="1457739">
                  <a:extLst>
                    <a:ext uri="{9D8B030D-6E8A-4147-A177-3AD203B41FA5}">
                      <a16:colId xmlns:a16="http://schemas.microsoft.com/office/drawing/2014/main" val="2704077999"/>
                    </a:ext>
                  </a:extLst>
                </a:gridCol>
              </a:tblGrid>
              <a:tr h="3602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Particular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Value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9385430"/>
                  </a:ext>
                </a:extLst>
              </a:tr>
              <a:tr h="414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Rate per annum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0.16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2763711"/>
                  </a:ext>
                </a:extLst>
              </a:tr>
              <a:tr h="42407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Rate per month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0.013333333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8251998"/>
                  </a:ext>
                </a:extLst>
              </a:tr>
              <a:tr h="39911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Term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6239161"/>
                  </a:ext>
                </a:extLst>
              </a:tr>
              <a:tr h="39756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Loan Amount (PV)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-100000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3197658"/>
                  </a:ext>
                </a:extLst>
              </a:tr>
              <a:tr h="51188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FV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2696425"/>
                  </a:ext>
                </a:extLst>
              </a:tr>
              <a:tr h="45552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Type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4341803"/>
                  </a:ext>
                </a:extLst>
              </a:tr>
              <a:tr h="2324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EMI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₹ 1,852.88</a:t>
                      </a:r>
                      <a:endParaRPr lang="en-US" sz="1800" b="1" i="0" u="none" strike="noStrike" dirty="0">
                        <a:solidFill>
                          <a:srgbClr val="FFFF00"/>
                        </a:solidFill>
                        <a:effectLst/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3748277"/>
                  </a:ext>
                </a:extLst>
              </a:tr>
            </a:tbl>
          </a:graphicData>
        </a:graphic>
      </p:graphicFrame>
      <p:sp>
        <p:nvSpPr>
          <p:cNvPr id="11" name="Text Placeholder 2"/>
          <p:cNvSpPr txBox="1">
            <a:spLocks/>
          </p:cNvSpPr>
          <p:nvPr/>
        </p:nvSpPr>
        <p:spPr>
          <a:xfrm>
            <a:off x="6721544" y="2415292"/>
            <a:ext cx="4121426" cy="576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lonna MT" panose="04020805060202030203" pitchFamily="82" charset="0"/>
              </a:rPr>
              <a:t>Short-Term Loan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736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897119791"/>
              </p:ext>
            </p:extLst>
          </p:nvPr>
        </p:nvGraphicFramePr>
        <p:xfrm>
          <a:off x="1200405" y="2327608"/>
          <a:ext cx="4823792" cy="1804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4018">
                  <a:extLst>
                    <a:ext uri="{9D8B030D-6E8A-4147-A177-3AD203B41FA5}">
                      <a16:colId xmlns:a16="http://schemas.microsoft.com/office/drawing/2014/main" val="3291867526"/>
                    </a:ext>
                  </a:extLst>
                </a:gridCol>
                <a:gridCol w="1419774">
                  <a:extLst>
                    <a:ext uri="{9D8B030D-6E8A-4147-A177-3AD203B41FA5}">
                      <a16:colId xmlns:a16="http://schemas.microsoft.com/office/drawing/2014/main" val="2956003211"/>
                    </a:ext>
                  </a:extLst>
                </a:gridCol>
              </a:tblGrid>
              <a:tr h="2723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Particular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Value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3484196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Rate per month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0.013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7152172"/>
                  </a:ext>
                </a:extLst>
              </a:tr>
              <a:tr h="20720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No. of monthly payment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6294678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Loan Amount (PV)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100000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9006282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FV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5108068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Type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4593861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EMI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  <a:latin typeface="Century Gothic (Body)"/>
                        </a:rPr>
                        <a:t>-₹13,242.27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6991678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gray">
          <a:xfrm>
            <a:off x="636104" y="762390"/>
            <a:ext cx="9822031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 smtClean="0">
                <a:solidFill>
                  <a:srgbClr val="549E39"/>
                </a:solidFill>
                <a:latin typeface="Algerian" panose="04020705040A02060702" pitchFamily="82" charset="0"/>
              </a:rPr>
              <a:t>EMI/PMT Calculation Using Excel</a:t>
            </a:r>
            <a:endParaRPr lang="en-US" sz="4400" dirty="0">
              <a:solidFill>
                <a:srgbClr val="549E39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1060171" y="1490870"/>
            <a:ext cx="9594575" cy="576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lonna MT" panose="04020805060202030203" pitchFamily="82" charset="0"/>
              </a:rPr>
              <a:t>Loan Amortization Schedule</a:t>
            </a:r>
          </a:p>
          <a:p>
            <a:pPr marL="0" indent="0" algn="ctr">
              <a:buNone/>
            </a:pP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  <a:latin typeface="Colonna MT" panose="04020805060202030203" pitchFamily="82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274424"/>
              </p:ext>
            </p:extLst>
          </p:nvPr>
        </p:nvGraphicFramePr>
        <p:xfrm>
          <a:off x="6345020" y="2385665"/>
          <a:ext cx="4439481" cy="791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9481">
                  <a:extLst>
                    <a:ext uri="{9D8B030D-6E8A-4147-A177-3AD203B41FA5}">
                      <a16:colId xmlns:a16="http://schemas.microsoft.com/office/drawing/2014/main" val="551635570"/>
                    </a:ext>
                  </a:extLst>
                </a:gridCol>
              </a:tblGrid>
              <a:tr h="4384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Interest paid between 2nd and 3rd months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2421522"/>
                  </a:ext>
                </a:extLst>
              </a:tr>
              <a:tr h="35291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Principal paid between 2nd and 3rd months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5634138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119704"/>
              </p:ext>
            </p:extLst>
          </p:nvPr>
        </p:nvGraphicFramePr>
        <p:xfrm>
          <a:off x="357808" y="4286841"/>
          <a:ext cx="11582402" cy="2415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57">
                  <a:extLst>
                    <a:ext uri="{9D8B030D-6E8A-4147-A177-3AD203B41FA5}">
                      <a16:colId xmlns:a16="http://schemas.microsoft.com/office/drawing/2014/main" val="1136709115"/>
                    </a:ext>
                  </a:extLst>
                </a:gridCol>
                <a:gridCol w="2544418">
                  <a:extLst>
                    <a:ext uri="{9D8B030D-6E8A-4147-A177-3AD203B41FA5}">
                      <a16:colId xmlns:a16="http://schemas.microsoft.com/office/drawing/2014/main" val="2603908328"/>
                    </a:ext>
                  </a:extLst>
                </a:gridCol>
                <a:gridCol w="1590260">
                  <a:extLst>
                    <a:ext uri="{9D8B030D-6E8A-4147-A177-3AD203B41FA5}">
                      <a16:colId xmlns:a16="http://schemas.microsoft.com/office/drawing/2014/main" val="2879579837"/>
                    </a:ext>
                  </a:extLst>
                </a:gridCol>
                <a:gridCol w="1630018">
                  <a:extLst>
                    <a:ext uri="{9D8B030D-6E8A-4147-A177-3AD203B41FA5}">
                      <a16:colId xmlns:a16="http://schemas.microsoft.com/office/drawing/2014/main" val="1566347301"/>
                    </a:ext>
                  </a:extLst>
                </a:gridCol>
                <a:gridCol w="2107095">
                  <a:extLst>
                    <a:ext uri="{9D8B030D-6E8A-4147-A177-3AD203B41FA5}">
                      <a16:colId xmlns:a16="http://schemas.microsoft.com/office/drawing/2014/main" val="1600141614"/>
                    </a:ext>
                  </a:extLst>
                </a:gridCol>
                <a:gridCol w="2756454">
                  <a:extLst>
                    <a:ext uri="{9D8B030D-6E8A-4147-A177-3AD203B41FA5}">
                      <a16:colId xmlns:a16="http://schemas.microsoft.com/office/drawing/2014/main" val="3309713231"/>
                    </a:ext>
                  </a:extLst>
                </a:gridCol>
              </a:tblGrid>
              <a:tr h="3127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  <a:latin typeface="Century Gothic (Body)"/>
                        </a:rPr>
                        <a:t>Month</a:t>
                      </a:r>
                      <a:endParaRPr lang="en-US" sz="19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  <a:latin typeface="Century Gothic (Body)"/>
                        </a:rPr>
                        <a:t>Beginning Balance</a:t>
                      </a:r>
                      <a:endParaRPr lang="en-US" sz="19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  <a:latin typeface="Century Gothic (Body)"/>
                        </a:rPr>
                        <a:t>EMI</a:t>
                      </a:r>
                      <a:endParaRPr lang="en-US" sz="19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  <a:latin typeface="Century Gothic (Body)"/>
                        </a:rPr>
                        <a:t>Interest</a:t>
                      </a:r>
                      <a:endParaRPr lang="en-US" sz="19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  <a:latin typeface="Century Gothic (Body)"/>
                        </a:rPr>
                        <a:t>Principal</a:t>
                      </a:r>
                      <a:endParaRPr lang="en-US" sz="19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  <a:latin typeface="Century Gothic (Body)"/>
                        </a:rPr>
                        <a:t>Ending Balance</a:t>
                      </a:r>
                      <a:endParaRPr lang="en-US" sz="19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6904432"/>
                  </a:ext>
                </a:extLst>
              </a:tr>
              <a:tr h="2628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1,00,000.00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13,242.27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1,300.00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11,942.27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88,057.73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3261942"/>
                  </a:ext>
                </a:extLst>
              </a:tr>
              <a:tr h="2628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88,057.73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13,242.27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1,144.75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12,097.52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75,960.22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3027695"/>
                  </a:ext>
                </a:extLst>
              </a:tr>
              <a:tr h="2628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75,960.22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13,242.27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987.48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12,254.78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63,705.43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2043164"/>
                  </a:ext>
                </a:extLst>
              </a:tr>
              <a:tr h="2628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63,705.43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13,242.27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828.17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12,414.10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51,291.34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7820744"/>
                  </a:ext>
                </a:extLst>
              </a:tr>
              <a:tr h="2628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51,291.34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13,242.27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666.79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12,575.48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38,715.86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3014395"/>
                  </a:ext>
                </a:extLst>
              </a:tr>
              <a:tr h="2628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38,715.86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13,242.27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503.31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12,738.96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25,976.89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5699684"/>
                  </a:ext>
                </a:extLst>
              </a:tr>
              <a:tr h="2628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25,976.89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13,242.27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337.70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12,904.57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13,072.33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03613267"/>
                  </a:ext>
                </a:extLst>
              </a:tr>
              <a:tr h="2628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13,072.33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13,242.27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169.94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13,072.33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0135109"/>
                  </a:ext>
                </a:extLst>
              </a:tr>
            </a:tbl>
          </a:graphicData>
        </a:graphic>
      </p:graphicFrame>
      <p:sp>
        <p:nvSpPr>
          <p:cNvPr id="15" name="Text Placeholder 2"/>
          <p:cNvSpPr txBox="1">
            <a:spLocks/>
          </p:cNvSpPr>
          <p:nvPr/>
        </p:nvSpPr>
        <p:spPr>
          <a:xfrm>
            <a:off x="6248399" y="3295460"/>
            <a:ext cx="5691811" cy="991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Insight: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 the outstanding balance decreases, the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interest component decreases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the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principal repayment increases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US" sz="1050" b="1" dirty="0">
              <a:solidFill>
                <a:schemeClr val="accent1">
                  <a:lumMod val="50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597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gray">
          <a:xfrm>
            <a:off x="636104" y="762390"/>
            <a:ext cx="9822031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 smtClean="0">
                <a:solidFill>
                  <a:srgbClr val="549E39"/>
                </a:solidFill>
                <a:latin typeface="Algerian" panose="04020705040A02060702" pitchFamily="82" charset="0"/>
              </a:rPr>
              <a:t>EMI/PMT Calculation Using Excel</a:t>
            </a:r>
            <a:endParaRPr lang="en-US" sz="4400" dirty="0">
              <a:solidFill>
                <a:srgbClr val="549E39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1060171" y="1490870"/>
            <a:ext cx="9594575" cy="576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lonna MT" panose="04020805060202030203" pitchFamily="82" charset="0"/>
              </a:rPr>
              <a:t>Loan Amortization Schedule</a:t>
            </a:r>
          </a:p>
          <a:p>
            <a:pPr marL="0" indent="0" algn="ctr">
              <a:buNone/>
            </a:pP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  <a:latin typeface="Colonna MT" panose="04020805060202030203" pitchFamily="82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09822"/>
              </p:ext>
            </p:extLst>
          </p:nvPr>
        </p:nvGraphicFramePr>
        <p:xfrm>
          <a:off x="781878" y="2555280"/>
          <a:ext cx="5234605" cy="3514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985">
                  <a:extLst>
                    <a:ext uri="{9D8B030D-6E8A-4147-A177-3AD203B41FA5}">
                      <a16:colId xmlns:a16="http://schemas.microsoft.com/office/drawing/2014/main" val="688513799"/>
                    </a:ext>
                  </a:extLst>
                </a:gridCol>
                <a:gridCol w="1427620">
                  <a:extLst>
                    <a:ext uri="{9D8B030D-6E8A-4147-A177-3AD203B41FA5}">
                      <a16:colId xmlns:a16="http://schemas.microsoft.com/office/drawing/2014/main" val="2230883984"/>
                    </a:ext>
                  </a:extLst>
                </a:gridCol>
              </a:tblGrid>
              <a:tr h="8113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Particular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Value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54152988"/>
                  </a:ext>
                </a:extLst>
              </a:tr>
              <a:tr h="68152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Loan Amount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100000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9843811"/>
                  </a:ext>
                </a:extLst>
              </a:tr>
              <a:tr h="72320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</a:rPr>
                        <a:t>No.of</a:t>
                      </a:r>
                      <a:r>
                        <a:rPr lang="en-US" sz="2000" u="none" strike="noStrike" dirty="0">
                          <a:effectLst/>
                        </a:rPr>
                        <a:t> monthly payment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6213506"/>
                  </a:ext>
                </a:extLst>
              </a:tr>
              <a:tr h="64907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EMI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-12000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97808429"/>
                  </a:ext>
                </a:extLst>
              </a:tr>
              <a:tr h="64907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Interest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8.44%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0405896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013838"/>
              </p:ext>
            </p:extLst>
          </p:nvPr>
        </p:nvGraphicFramePr>
        <p:xfrm>
          <a:off x="6255025" y="2555282"/>
          <a:ext cx="5247861" cy="3514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476">
                  <a:extLst>
                    <a:ext uri="{9D8B030D-6E8A-4147-A177-3AD203B41FA5}">
                      <a16:colId xmlns:a16="http://schemas.microsoft.com/office/drawing/2014/main" val="2430477671"/>
                    </a:ext>
                  </a:extLst>
                </a:gridCol>
                <a:gridCol w="2377385">
                  <a:extLst>
                    <a:ext uri="{9D8B030D-6E8A-4147-A177-3AD203B41FA5}">
                      <a16:colId xmlns:a16="http://schemas.microsoft.com/office/drawing/2014/main" val="542889052"/>
                    </a:ext>
                  </a:extLst>
                </a:gridCol>
              </a:tblGrid>
              <a:tr h="64543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>
                          <a:effectLst/>
                        </a:rPr>
                        <a:t>Term Loan</a:t>
                      </a:r>
                      <a:endParaRPr lang="en-US" sz="22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283843"/>
                  </a:ext>
                </a:extLst>
              </a:tr>
              <a:tr h="68288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Loan Amount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100000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0635355"/>
                  </a:ext>
                </a:extLst>
              </a:tr>
              <a:tr h="53029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Interest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4225963"/>
                  </a:ext>
                </a:extLst>
              </a:tr>
              <a:tr h="53029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EMI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-15000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7076295"/>
                  </a:ext>
                </a:extLst>
              </a:tr>
              <a:tr h="112530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effectLst/>
                        </a:rPr>
                        <a:t>No.of</a:t>
                      </a:r>
                      <a:r>
                        <a:rPr lang="en-US" sz="2000" u="none" strike="noStrike" dirty="0">
                          <a:effectLst/>
                        </a:rPr>
                        <a:t> monthly payment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1892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3143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656373"/>
            <a:ext cx="8761413" cy="728480"/>
          </a:xfrm>
        </p:spPr>
        <p:txBody>
          <a:bodyPr/>
          <a:lstStyle/>
          <a:p>
            <a:r>
              <a:rPr lang="en-US" sz="4400" b="1" dirty="0">
                <a:solidFill>
                  <a:srgbClr val="549E39"/>
                </a:solidFill>
                <a:latin typeface="Colonna MT" panose="04020805060202030203" pitchFamily="82" charset="0"/>
              </a:rPr>
              <a:t>NPV: Investment Decision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625926"/>
              </p:ext>
            </p:extLst>
          </p:nvPr>
        </p:nvGraphicFramePr>
        <p:xfrm>
          <a:off x="478972" y="2366928"/>
          <a:ext cx="4136571" cy="3580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858">
                  <a:extLst>
                    <a:ext uri="{9D8B030D-6E8A-4147-A177-3AD203B41FA5}">
                      <a16:colId xmlns:a16="http://schemas.microsoft.com/office/drawing/2014/main" val="764158645"/>
                    </a:ext>
                  </a:extLst>
                </a:gridCol>
                <a:gridCol w="1475106">
                  <a:extLst>
                    <a:ext uri="{9D8B030D-6E8A-4147-A177-3AD203B41FA5}">
                      <a16:colId xmlns:a16="http://schemas.microsoft.com/office/drawing/2014/main" val="2973061531"/>
                    </a:ext>
                  </a:extLst>
                </a:gridCol>
                <a:gridCol w="1537607">
                  <a:extLst>
                    <a:ext uri="{9D8B030D-6E8A-4147-A177-3AD203B41FA5}">
                      <a16:colId xmlns:a16="http://schemas.microsoft.com/office/drawing/2014/main" val="1362071173"/>
                    </a:ext>
                  </a:extLst>
                </a:gridCol>
              </a:tblGrid>
              <a:tr h="347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Interest Rate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0.2</a:t>
                      </a:r>
                      <a:endParaRPr lang="en-US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2954602"/>
                  </a:ext>
                </a:extLst>
              </a:tr>
              <a:tr h="4241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Cash Flow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685594"/>
                  </a:ext>
                </a:extLst>
              </a:tr>
              <a:tr h="5617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Time</a:t>
                      </a:r>
                      <a:endParaRPr lang="en-US" sz="14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Investement</a:t>
                      </a:r>
                      <a:r>
                        <a:rPr lang="en-US" sz="1400" u="none" strike="noStrike" dirty="0">
                          <a:effectLst/>
                        </a:rPr>
                        <a:t> 1</a:t>
                      </a:r>
                      <a:endParaRPr lang="en-US" sz="14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Investement</a:t>
                      </a:r>
                      <a:r>
                        <a:rPr lang="en-US" sz="1400" u="none" strike="noStrike" dirty="0">
                          <a:effectLst/>
                        </a:rPr>
                        <a:t> 2</a:t>
                      </a:r>
                      <a:endParaRPr lang="en-US" sz="14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9686154"/>
                  </a:ext>
                </a:extLst>
              </a:tr>
              <a:tr h="5617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-10000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-5000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975863"/>
                  </a:ext>
                </a:extLst>
              </a:tr>
              <a:tr h="5617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948450"/>
                  </a:ext>
                </a:extLst>
              </a:tr>
              <a:tr h="5617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-7000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-8000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5009209"/>
                  </a:ext>
                </a:extLst>
              </a:tr>
              <a:tr h="5617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Total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8000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1162831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652978"/>
              </p:ext>
            </p:extLst>
          </p:nvPr>
        </p:nvGraphicFramePr>
        <p:xfrm>
          <a:off x="5036457" y="2366929"/>
          <a:ext cx="6945226" cy="3580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161">
                  <a:extLst>
                    <a:ext uri="{9D8B030D-6E8A-4147-A177-3AD203B41FA5}">
                      <a16:colId xmlns:a16="http://schemas.microsoft.com/office/drawing/2014/main" val="4177735142"/>
                    </a:ext>
                  </a:extLst>
                </a:gridCol>
                <a:gridCol w="1081590">
                  <a:extLst>
                    <a:ext uri="{9D8B030D-6E8A-4147-A177-3AD203B41FA5}">
                      <a16:colId xmlns:a16="http://schemas.microsoft.com/office/drawing/2014/main" val="2125997953"/>
                    </a:ext>
                  </a:extLst>
                </a:gridCol>
                <a:gridCol w="1015548">
                  <a:extLst>
                    <a:ext uri="{9D8B030D-6E8A-4147-A177-3AD203B41FA5}">
                      <a16:colId xmlns:a16="http://schemas.microsoft.com/office/drawing/2014/main" val="1749144937"/>
                    </a:ext>
                  </a:extLst>
                </a:gridCol>
                <a:gridCol w="2999927">
                  <a:extLst>
                    <a:ext uri="{9D8B030D-6E8A-4147-A177-3AD203B41FA5}">
                      <a16:colId xmlns:a16="http://schemas.microsoft.com/office/drawing/2014/main" val="1316954415"/>
                    </a:ext>
                  </a:extLst>
                </a:gridCol>
              </a:tblGrid>
              <a:tr h="3825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  <a:latin typeface="Century Gothic (Body)"/>
                        </a:rPr>
                        <a:t>Particular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Value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Value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entury Gothic (Body)"/>
                        </a:rPr>
                        <a:t>FORMULAT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7687063"/>
                  </a:ext>
                </a:extLst>
              </a:tr>
              <a:tr h="9393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NPV (End Year)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₹ 4,489.18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₹ 3,407.65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=NPV(B68,E70:E78)-C62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1871079"/>
                  </a:ext>
                </a:extLst>
              </a:tr>
              <a:tr h="12177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NPV (Beginning Year)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₹ 4,329.18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₹ 3,267.65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=NPV(B68,E70:E78)-C62*(1+0.02)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6383448"/>
                  </a:ext>
                </a:extLst>
              </a:tr>
              <a:tr h="10404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NPV (Middle Year)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₹ 4,409.58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₹ 3,338.00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=NPV(B68,E70:E78)-C62*(1+0.02)^0.5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96695758"/>
                  </a:ext>
                </a:extLst>
              </a:tr>
            </a:tbl>
          </a:graphicData>
        </a:graphic>
      </p:graphicFrame>
      <p:sp>
        <p:nvSpPr>
          <p:cNvPr id="16" name="Text Placeholder 2"/>
          <p:cNvSpPr txBox="1">
            <a:spLocks/>
          </p:cNvSpPr>
          <p:nvPr/>
        </p:nvSpPr>
        <p:spPr>
          <a:xfrm>
            <a:off x="1154954" y="1319245"/>
            <a:ext cx="10559555" cy="556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lonna MT" panose="04020805060202030203" pitchFamily="82" charset="0"/>
              </a:rPr>
              <a:t>Decision: Both </a:t>
            </a:r>
            <a:r>
              <a:rPr lang="en-US" sz="23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lonna MT" panose="04020805060202030203" pitchFamily="82" charset="0"/>
              </a:rPr>
              <a:t>investments have positive NPV, but Investment 1 creates greater value.</a:t>
            </a:r>
          </a:p>
        </p:txBody>
      </p:sp>
    </p:spTree>
    <p:extLst>
      <p:ext uri="{BB962C8B-B14F-4D97-AF65-F5344CB8AC3E}">
        <p14:creationId xmlns:p14="http://schemas.microsoft.com/office/powerpoint/2010/main" val="19995917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63068" y="672149"/>
            <a:ext cx="8761413" cy="728480"/>
          </a:xfrm>
        </p:spPr>
        <p:txBody>
          <a:bodyPr/>
          <a:lstStyle/>
          <a:p>
            <a:r>
              <a:rPr lang="en-US" sz="4400" b="1" dirty="0">
                <a:solidFill>
                  <a:srgbClr val="549E39"/>
                </a:solidFill>
                <a:latin typeface="Colonna MT" panose="04020805060202030203" pitchFamily="82" charset="0"/>
              </a:rPr>
              <a:t>NPV: Investment Decision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030724"/>
              </p:ext>
            </p:extLst>
          </p:nvPr>
        </p:nvGraphicFramePr>
        <p:xfrm>
          <a:off x="507999" y="2583542"/>
          <a:ext cx="4078517" cy="302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867">
                  <a:extLst>
                    <a:ext uri="{9D8B030D-6E8A-4147-A177-3AD203B41FA5}">
                      <a16:colId xmlns:a16="http://schemas.microsoft.com/office/drawing/2014/main" val="3154596262"/>
                    </a:ext>
                  </a:extLst>
                </a:gridCol>
                <a:gridCol w="1847650">
                  <a:extLst>
                    <a:ext uri="{9D8B030D-6E8A-4147-A177-3AD203B41FA5}">
                      <a16:colId xmlns:a16="http://schemas.microsoft.com/office/drawing/2014/main" val="445046007"/>
                    </a:ext>
                  </a:extLst>
                </a:gridCol>
              </a:tblGrid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Interest Rate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1" i="0" u="none" strike="noStrike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4632332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Date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Cash Flow</a:t>
                      </a:r>
                      <a:endParaRPr lang="en-US" sz="1600" b="1" i="0" u="none" strike="noStrike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7157715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15/Jun/2016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0376993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14/Oct/2016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5143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7595844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30/Apr/2017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8838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04085119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10/Nov/2016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-4893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6719021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16/Sep/2016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-2134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4341792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18/Apr/2017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8047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8612022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27/Aug/2016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3908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9007729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17/Jul/2016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-4007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0565932"/>
                  </a:ext>
                </a:extLst>
              </a:tr>
              <a:tr h="275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NPV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12489.18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1095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441827"/>
              </p:ext>
            </p:extLst>
          </p:nvPr>
        </p:nvGraphicFramePr>
        <p:xfrm>
          <a:off x="4586516" y="5087762"/>
          <a:ext cx="1277257" cy="506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257">
                  <a:extLst>
                    <a:ext uri="{9D8B030D-6E8A-4147-A177-3AD203B41FA5}">
                      <a16:colId xmlns:a16="http://schemas.microsoft.com/office/drawing/2014/main" val="2377206100"/>
                    </a:ext>
                  </a:extLst>
                </a:gridCol>
              </a:tblGrid>
              <a:tr h="2201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XNPV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6655467"/>
                  </a:ext>
                </a:extLst>
              </a:tr>
              <a:tr h="2201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17523.6545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224857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178406"/>
              </p:ext>
            </p:extLst>
          </p:nvPr>
        </p:nvGraphicFramePr>
        <p:xfrm>
          <a:off x="6095999" y="2583539"/>
          <a:ext cx="4107546" cy="3154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2944">
                  <a:extLst>
                    <a:ext uri="{9D8B030D-6E8A-4147-A177-3AD203B41FA5}">
                      <a16:colId xmlns:a16="http://schemas.microsoft.com/office/drawing/2014/main" val="339448496"/>
                    </a:ext>
                  </a:extLst>
                </a:gridCol>
                <a:gridCol w="2094602">
                  <a:extLst>
                    <a:ext uri="{9D8B030D-6E8A-4147-A177-3AD203B41FA5}">
                      <a16:colId xmlns:a16="http://schemas.microsoft.com/office/drawing/2014/main" val="1652566908"/>
                    </a:ext>
                  </a:extLst>
                </a:gridCol>
              </a:tblGrid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Interest Rate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1" i="0" u="none" strike="noStrike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5389463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Date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Cash Flow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9454325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15/Mar/2015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1956895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15/Jun/2016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9710681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14/Oct/2016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5143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5173213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30/Apr/2017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8838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25205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10/Nov/2016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-4893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6716399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16/Sep/2016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-2134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584809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18/Apr/2017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8047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683885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27/Aug/2016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3908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2173345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17/Jul/2016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-4007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8710906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NPV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10407.65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50033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152590"/>
              </p:ext>
            </p:extLst>
          </p:nvPr>
        </p:nvGraphicFramePr>
        <p:xfrm>
          <a:off x="10203545" y="5210278"/>
          <a:ext cx="1249589" cy="52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589">
                  <a:extLst>
                    <a:ext uri="{9D8B030D-6E8A-4147-A177-3AD203B41FA5}">
                      <a16:colId xmlns:a16="http://schemas.microsoft.com/office/drawing/2014/main" val="3940146877"/>
                    </a:ext>
                  </a:extLst>
                </a:gridCol>
              </a:tblGrid>
              <a:tr h="2607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XNPV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1538920"/>
                  </a:ext>
                </a:extLst>
              </a:tr>
              <a:tr h="26217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13940.18343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560614"/>
                  </a:ext>
                </a:extLst>
              </a:tr>
            </a:tbl>
          </a:graphicData>
        </a:graphic>
      </p:graphicFrame>
      <p:sp>
        <p:nvSpPr>
          <p:cNvPr id="17" name="Cloud Callout 16"/>
          <p:cNvSpPr/>
          <p:nvPr/>
        </p:nvSpPr>
        <p:spPr>
          <a:xfrm>
            <a:off x="4262166" y="2784887"/>
            <a:ext cx="1966419" cy="1970324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 smtClean="0">
              <a:latin typeface="Century Gothic (Body)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1050" b="1" dirty="0" smtClean="0"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Key </a:t>
            </a:r>
            <a:r>
              <a:rPr lang="en-US" sz="1050" b="1" dirty="0"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Difference: NPV → Period-based discounting XNPV → Date-based discounting Use XNPV when cash flows occur on irregular dates.</a:t>
            </a:r>
          </a:p>
        </p:txBody>
      </p:sp>
      <p:sp>
        <p:nvSpPr>
          <p:cNvPr id="18" name="Cloud Callout 17"/>
          <p:cNvSpPr/>
          <p:nvPr/>
        </p:nvSpPr>
        <p:spPr>
          <a:xfrm>
            <a:off x="9855199" y="2583539"/>
            <a:ext cx="1857829" cy="232229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 smtClean="0">
              <a:latin typeface="Century Gothic (Body)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1200" b="1" dirty="0" smtClean="0"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NPV </a:t>
            </a:r>
            <a:r>
              <a:rPr lang="en-US" sz="1200" b="1" dirty="0"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assumes regular periodic cash flows, while XNPV considers the actual dates of cash flows.</a:t>
            </a:r>
          </a:p>
        </p:txBody>
      </p:sp>
    </p:spTree>
    <p:extLst>
      <p:ext uri="{BB962C8B-B14F-4D97-AF65-F5344CB8AC3E}">
        <p14:creationId xmlns:p14="http://schemas.microsoft.com/office/powerpoint/2010/main" val="2439678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63068" y="672149"/>
            <a:ext cx="8761413" cy="728480"/>
          </a:xfrm>
        </p:spPr>
        <p:txBody>
          <a:bodyPr/>
          <a:lstStyle/>
          <a:p>
            <a:r>
              <a:rPr lang="en-US" sz="4400" b="1" dirty="0">
                <a:solidFill>
                  <a:srgbClr val="549E39"/>
                </a:solidFill>
                <a:latin typeface="Colonna MT" panose="04020805060202030203" pitchFamily="82" charset="0"/>
              </a:rPr>
              <a:t>NPV: Investment Decision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273260"/>
              </p:ext>
            </p:extLst>
          </p:nvPr>
        </p:nvGraphicFramePr>
        <p:xfrm>
          <a:off x="478970" y="2503181"/>
          <a:ext cx="11292116" cy="3360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13">
                  <a:extLst>
                    <a:ext uri="{9D8B030D-6E8A-4147-A177-3AD203B41FA5}">
                      <a16:colId xmlns:a16="http://schemas.microsoft.com/office/drawing/2014/main" val="2942753355"/>
                    </a:ext>
                  </a:extLst>
                </a:gridCol>
                <a:gridCol w="5027194">
                  <a:extLst>
                    <a:ext uri="{9D8B030D-6E8A-4147-A177-3AD203B41FA5}">
                      <a16:colId xmlns:a16="http://schemas.microsoft.com/office/drawing/2014/main" val="903896931"/>
                    </a:ext>
                  </a:extLst>
                </a:gridCol>
                <a:gridCol w="3064609">
                  <a:extLst>
                    <a:ext uri="{9D8B030D-6E8A-4147-A177-3AD203B41FA5}">
                      <a16:colId xmlns:a16="http://schemas.microsoft.com/office/drawing/2014/main" val="4220677522"/>
                    </a:ext>
                  </a:extLst>
                </a:gridCol>
              </a:tblGrid>
              <a:tr h="3360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Cash Flow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Interest Rate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NPV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9619549"/>
                  </a:ext>
                </a:extLst>
              </a:tr>
              <a:tr h="3360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10000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8.00%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-304.95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6904895"/>
                  </a:ext>
                </a:extLst>
              </a:tr>
              <a:tr h="3360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-5000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8.50%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-242.26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937577"/>
                  </a:ext>
                </a:extLst>
              </a:tr>
              <a:tr h="3360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-8500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9.00%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-180.80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7537522"/>
                  </a:ext>
                </a:extLst>
              </a:tr>
              <a:tr h="3360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2000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9.50%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-120.54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4546587"/>
                  </a:ext>
                </a:extLst>
              </a:tr>
              <a:tr h="3360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10.00%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-61.47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8986069"/>
                  </a:ext>
                </a:extLst>
              </a:tr>
              <a:tr h="3360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10.53%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-0.12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5330515"/>
                  </a:ext>
                </a:extLst>
              </a:tr>
              <a:tr h="3360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11.00%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53.23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4215657"/>
                  </a:ext>
                </a:extLst>
              </a:tr>
              <a:tr h="3360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11.50%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₹ 108.91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7465478"/>
                  </a:ext>
                </a:extLst>
              </a:tr>
              <a:tr h="3360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Century Gothic (Body)"/>
                        </a:rPr>
                        <a:t>12.00%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Century Gothic (Body)"/>
                        </a:rPr>
                        <a:t>₹ 163.51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47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9745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63068" y="672149"/>
            <a:ext cx="9527561" cy="728480"/>
          </a:xfrm>
        </p:spPr>
        <p:txBody>
          <a:bodyPr/>
          <a:lstStyle/>
          <a:p>
            <a:r>
              <a:rPr lang="en-US" sz="4400" b="1" dirty="0">
                <a:solidFill>
                  <a:srgbClr val="549E39"/>
                </a:solidFill>
                <a:latin typeface="Colonna MT" panose="04020805060202030203" pitchFamily="82" charset="0"/>
              </a:rPr>
              <a:t>IRR: Finding the Investment Return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123326"/>
              </p:ext>
            </p:extLst>
          </p:nvPr>
        </p:nvGraphicFramePr>
        <p:xfrm>
          <a:off x="517066" y="2302216"/>
          <a:ext cx="3352804" cy="160994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676402">
                  <a:extLst>
                    <a:ext uri="{9D8B030D-6E8A-4147-A177-3AD203B41FA5}">
                      <a16:colId xmlns:a16="http://schemas.microsoft.com/office/drawing/2014/main" val="293866957"/>
                    </a:ext>
                  </a:extLst>
                </a:gridCol>
                <a:gridCol w="1676402">
                  <a:extLst>
                    <a:ext uri="{9D8B030D-6E8A-4147-A177-3AD203B41FA5}">
                      <a16:colId xmlns:a16="http://schemas.microsoft.com/office/drawing/2014/main" val="42662445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 smtClean="0">
                          <a:latin typeface="Century Gothic (Body)"/>
                        </a:rPr>
                        <a:t>Period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Cash Flows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4833598"/>
                  </a:ext>
                </a:extLst>
              </a:tr>
              <a:tr h="339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entury Gothic (Body)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10000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0701068"/>
                  </a:ext>
                </a:extLst>
              </a:tr>
              <a:tr h="339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entury Gothic (Body)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-5000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9736540"/>
                  </a:ext>
                </a:extLst>
              </a:tr>
              <a:tr h="339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entury Gothic (Body)"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-8500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9841110"/>
                  </a:ext>
                </a:extLst>
              </a:tr>
              <a:tr h="339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entury Gothic (Body)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2000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382771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632873"/>
              </p:ext>
            </p:extLst>
          </p:nvPr>
        </p:nvGraphicFramePr>
        <p:xfrm>
          <a:off x="4261756" y="2803865"/>
          <a:ext cx="3474357" cy="11083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474357">
                  <a:extLst>
                    <a:ext uri="{9D8B030D-6E8A-4147-A177-3AD203B41FA5}">
                      <a16:colId xmlns:a16="http://schemas.microsoft.com/office/drawing/2014/main" val="4226648917"/>
                    </a:ext>
                  </a:extLst>
                </a:gridCol>
              </a:tblGrid>
              <a:tr h="56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IRR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6799249"/>
                  </a:ext>
                </a:extLst>
              </a:tr>
              <a:tr h="5395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10.53%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0233753"/>
                  </a:ext>
                </a:extLst>
              </a:tr>
            </a:tbl>
          </a:graphicData>
        </a:graphic>
      </p:graphicFrame>
      <p:sp>
        <p:nvSpPr>
          <p:cNvPr id="6" name="Cloud Callout 5"/>
          <p:cNvSpPr/>
          <p:nvPr/>
        </p:nvSpPr>
        <p:spPr>
          <a:xfrm>
            <a:off x="8127999" y="2302216"/>
            <a:ext cx="3517491" cy="1340529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entury Gothic (Body)"/>
              </a:rPr>
              <a:t>=IRR(</a:t>
            </a:r>
            <a:r>
              <a:rPr lang="en-US" sz="1400" b="1" dirty="0" err="1">
                <a:latin typeface="Century Gothic (Body)"/>
              </a:rPr>
              <a:t>cash_flow_range</a:t>
            </a:r>
            <a:r>
              <a:rPr lang="en-US" sz="1400" b="1" dirty="0">
                <a:latin typeface="Century Gothic (Body)"/>
              </a:rPr>
              <a:t>)</a:t>
            </a:r>
            <a:endParaRPr lang="en-US" sz="1400" b="1" dirty="0">
              <a:latin typeface="Century Gothic (Body)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517066" y="4144394"/>
            <a:ext cx="11074399" cy="23870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lonna MT" panose="04020805060202030203" pitchFamily="82" charset="0"/>
              </a:rPr>
              <a:t>Concept: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lonna MT" panose="04020805060202030203" pitchFamily="82" charset="0"/>
              </a:rPr>
              <a:t>IRR is the discount rate at which: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lonna MT" panose="04020805060202030203" pitchFamily="82" charset="0"/>
              </a:rPr>
              <a:t>NPV = 0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lonna MT" panose="04020805060202030203" pitchFamily="82" charset="0"/>
              </a:rPr>
              <a:t>Your sensitivity analysis shows NPV moving from negative to positive around 10.53%, confirming the IRR.</a:t>
            </a:r>
          </a:p>
        </p:txBody>
      </p:sp>
    </p:spTree>
    <p:extLst>
      <p:ext uri="{BB962C8B-B14F-4D97-AF65-F5344CB8AC3E}">
        <p14:creationId xmlns:p14="http://schemas.microsoft.com/office/powerpoint/2010/main" val="22114442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27629" y="406159"/>
            <a:ext cx="9527561" cy="728480"/>
          </a:xfrm>
        </p:spPr>
        <p:txBody>
          <a:bodyPr/>
          <a:lstStyle/>
          <a:p>
            <a:r>
              <a:rPr lang="en-US" sz="4400" b="1" dirty="0">
                <a:solidFill>
                  <a:srgbClr val="549E39"/>
                </a:solidFill>
                <a:latin typeface="Colonna MT" panose="04020805060202030203" pitchFamily="82" charset="0"/>
              </a:rPr>
              <a:t>IRR: </a:t>
            </a:r>
            <a:r>
              <a:rPr lang="en-US" sz="4400" dirty="0">
                <a:solidFill>
                  <a:srgbClr val="549E39"/>
                </a:solidFill>
                <a:latin typeface="Colonna MT" panose="04020805060202030203" pitchFamily="82" charset="0"/>
              </a:rPr>
              <a:t>Importance of Cash Flow Signs</a:t>
            </a:r>
            <a:endParaRPr lang="en-US" sz="4400" b="1" dirty="0">
              <a:solidFill>
                <a:srgbClr val="549E39"/>
              </a:solidFill>
              <a:latin typeface="Colonna MT" panose="04020805060202030203" pitchFamily="82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346470"/>
              </p:ext>
            </p:extLst>
          </p:nvPr>
        </p:nvGraphicFramePr>
        <p:xfrm>
          <a:off x="526144" y="2287834"/>
          <a:ext cx="3436257" cy="4188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79">
                  <a:extLst>
                    <a:ext uri="{9D8B030D-6E8A-4147-A177-3AD203B41FA5}">
                      <a16:colId xmlns:a16="http://schemas.microsoft.com/office/drawing/2014/main" val="1885393952"/>
                    </a:ext>
                  </a:extLst>
                </a:gridCol>
                <a:gridCol w="810722">
                  <a:extLst>
                    <a:ext uri="{9D8B030D-6E8A-4147-A177-3AD203B41FA5}">
                      <a16:colId xmlns:a16="http://schemas.microsoft.com/office/drawing/2014/main" val="3947783229"/>
                    </a:ext>
                  </a:extLst>
                </a:gridCol>
                <a:gridCol w="1272956">
                  <a:extLst>
                    <a:ext uri="{9D8B030D-6E8A-4147-A177-3AD203B41FA5}">
                      <a16:colId xmlns:a16="http://schemas.microsoft.com/office/drawing/2014/main" val="1790893333"/>
                    </a:ext>
                  </a:extLst>
                </a:gridCol>
              </a:tblGrid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Cash Flows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Guess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IRR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7675288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10000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10.53%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8030346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-5000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0.05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10.53%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6567511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-8500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0.15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10.53%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457256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2000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10.53%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143594"/>
                  </a:ext>
                </a:extLst>
              </a:tr>
              <a:tr h="35151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10.53%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5038450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0.3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10.53%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9863223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0.35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10.53%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8603484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0.4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10.53%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0275829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0.45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10.53%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5237142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0.5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10.53%</a:t>
                      </a:r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5154589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0.55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10.53%</a:t>
                      </a:r>
                      <a:endParaRPr lang="en-US" sz="16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768735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207308"/>
              </p:ext>
            </p:extLst>
          </p:nvPr>
        </p:nvGraphicFramePr>
        <p:xfrm>
          <a:off x="4194628" y="2350437"/>
          <a:ext cx="3788228" cy="4122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750">
                  <a:extLst>
                    <a:ext uri="{9D8B030D-6E8A-4147-A177-3AD203B41FA5}">
                      <a16:colId xmlns:a16="http://schemas.microsoft.com/office/drawing/2014/main" val="335869124"/>
                    </a:ext>
                  </a:extLst>
                </a:gridCol>
                <a:gridCol w="999851">
                  <a:extLst>
                    <a:ext uri="{9D8B030D-6E8A-4147-A177-3AD203B41FA5}">
                      <a16:colId xmlns:a16="http://schemas.microsoft.com/office/drawing/2014/main" val="2460118584"/>
                    </a:ext>
                  </a:extLst>
                </a:gridCol>
                <a:gridCol w="1344627">
                  <a:extLst>
                    <a:ext uri="{9D8B030D-6E8A-4147-A177-3AD203B41FA5}">
                      <a16:colId xmlns:a16="http://schemas.microsoft.com/office/drawing/2014/main" val="2800035271"/>
                    </a:ext>
                  </a:extLst>
                </a:gridCol>
              </a:tblGrid>
              <a:tr h="372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Cash Flows</a:t>
                      </a:r>
                      <a:endParaRPr lang="en-US" sz="1600" b="0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Guess</a:t>
                      </a:r>
                      <a:endParaRPr lang="en-US" sz="1600" b="0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IRR</a:t>
                      </a:r>
                      <a:endParaRPr lang="en-US" sz="1600" b="0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2106746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-20000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-9.59%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2349356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82000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-9.59%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8515119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-60000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-9.59%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9084760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25.00%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-9.59%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9063283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-9.59%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432528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35.00%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-9.59%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1047159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40.00%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-9.59%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7706788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45.00%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216.09%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8520978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216.09%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1826178"/>
                  </a:ext>
                </a:extLst>
              </a:tr>
              <a:tr h="33936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55.00%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216.09%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2574590"/>
                  </a:ext>
                </a:extLst>
              </a:tr>
              <a:tr h="356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60.00%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216.09%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984087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206158"/>
              </p:ext>
            </p:extLst>
          </p:nvPr>
        </p:nvGraphicFramePr>
        <p:xfrm>
          <a:off x="8215084" y="2287834"/>
          <a:ext cx="3459840" cy="4185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595">
                  <a:extLst>
                    <a:ext uri="{9D8B030D-6E8A-4147-A177-3AD203B41FA5}">
                      <a16:colId xmlns:a16="http://schemas.microsoft.com/office/drawing/2014/main" val="978364197"/>
                    </a:ext>
                  </a:extLst>
                </a:gridCol>
                <a:gridCol w="897433">
                  <a:extLst>
                    <a:ext uri="{9D8B030D-6E8A-4147-A177-3AD203B41FA5}">
                      <a16:colId xmlns:a16="http://schemas.microsoft.com/office/drawing/2014/main" val="518102117"/>
                    </a:ext>
                  </a:extLst>
                </a:gridCol>
                <a:gridCol w="1243812">
                  <a:extLst>
                    <a:ext uri="{9D8B030D-6E8A-4147-A177-3AD203B41FA5}">
                      <a16:colId xmlns:a16="http://schemas.microsoft.com/office/drawing/2014/main" val="2273223799"/>
                    </a:ext>
                  </a:extLst>
                </a:gridCol>
              </a:tblGrid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Cash Flows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Guess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IRR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9599497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-10000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1892541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-5000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2761667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8500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0321662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3657272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5654234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9992406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0.35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4778461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2463409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0.45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6774181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-17.53%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3931498"/>
                  </a:ext>
                </a:extLst>
              </a:tr>
              <a:tr h="34879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0.55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-17.53%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1686653"/>
                  </a:ext>
                </a:extLst>
              </a:tr>
            </a:tbl>
          </a:graphicData>
        </a:graphic>
      </p:graphicFrame>
      <p:sp>
        <p:nvSpPr>
          <p:cNvPr id="11" name="Text Placeholder 2"/>
          <p:cNvSpPr txBox="1">
            <a:spLocks/>
          </p:cNvSpPr>
          <p:nvPr/>
        </p:nvSpPr>
        <p:spPr>
          <a:xfrm>
            <a:off x="6183086" y="902540"/>
            <a:ext cx="5317668" cy="9908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Learning: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Cash-flow signs matter.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IRR can be misleading when cash flows change signs multiple times. </a:t>
            </a:r>
          </a:p>
        </p:txBody>
      </p:sp>
      <p:sp>
        <p:nvSpPr>
          <p:cNvPr id="13" name="Pentagon 12"/>
          <p:cNvSpPr/>
          <p:nvPr/>
        </p:nvSpPr>
        <p:spPr>
          <a:xfrm>
            <a:off x="4194628" y="4380598"/>
            <a:ext cx="1422401" cy="2061039"/>
          </a:xfrm>
          <a:prstGeom prst="homePlate">
            <a:avLst>
              <a:gd name="adj" fmla="val 509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</a:rPr>
              <a:t>The second example demonstrates that non-conventional cash flows can produce multiple IRRs.</a:t>
            </a:r>
          </a:p>
        </p:txBody>
      </p:sp>
      <p:sp>
        <p:nvSpPr>
          <p:cNvPr id="14" name="Text Placeholder 2"/>
          <p:cNvSpPr txBox="1">
            <a:spLocks/>
          </p:cNvSpPr>
          <p:nvPr/>
        </p:nvSpPr>
        <p:spPr>
          <a:xfrm>
            <a:off x="439058" y="829225"/>
            <a:ext cx="5969001" cy="5061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Learning: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Different </a:t>
            </a:r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guesses may lead Excel toward different IRR solutions.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complex cash-flow patterns, MIRR or NPV analysis can be more reliable.</a:t>
            </a:r>
          </a:p>
        </p:txBody>
      </p:sp>
    </p:spTree>
    <p:extLst>
      <p:ext uri="{BB962C8B-B14F-4D97-AF65-F5344CB8AC3E}">
        <p14:creationId xmlns:p14="http://schemas.microsoft.com/office/powerpoint/2010/main" val="863734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97435" y="487697"/>
            <a:ext cx="10053704" cy="728480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rgbClr val="549E39"/>
                </a:solidFill>
                <a:latin typeface="Colonna MT" panose="04020805060202030203" pitchFamily="82" charset="0"/>
              </a:rPr>
              <a:t>IRR vs NPV: Project Comparison</a:t>
            </a:r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93485" y="1114577"/>
            <a:ext cx="11234059" cy="2223710"/>
          </a:xfrm>
          <a:prstGeom prst="rect">
            <a:avLst/>
          </a:prstGeom>
          <a:solidFill>
            <a:srgbClr val="353D2F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Important Insight: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Project B has the higher IRR. 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Project A has the higher NPV. </a:t>
            </a:r>
          </a:p>
          <a:p>
            <a:pPr marL="400050" lvl="1" indent="0" algn="r">
              <a:buNone/>
            </a:pPr>
            <a:r>
              <a:rPr lang="en-US" sz="18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Therefore</a:t>
            </a:r>
            <a:r>
              <a:rPr lang="en-US" sz="1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, IRR and NPV can sometimes give different investment rankings.</a:t>
            </a:r>
          </a:p>
          <a:p>
            <a:pPr marL="400050" lvl="1" indent="0" algn="r">
              <a:buNone/>
            </a:pPr>
            <a:r>
              <a:rPr lang="en-US" sz="1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For value-maximization decisions, NPV is generally the stronger criterion.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80439"/>
              </p:ext>
            </p:extLst>
          </p:nvPr>
        </p:nvGraphicFramePr>
        <p:xfrm>
          <a:off x="597435" y="3642763"/>
          <a:ext cx="5396967" cy="29757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6508">
                  <a:extLst>
                    <a:ext uri="{9D8B030D-6E8A-4147-A177-3AD203B41FA5}">
                      <a16:colId xmlns:a16="http://schemas.microsoft.com/office/drawing/2014/main" val="1403594499"/>
                    </a:ext>
                  </a:extLst>
                </a:gridCol>
                <a:gridCol w="2278743">
                  <a:extLst>
                    <a:ext uri="{9D8B030D-6E8A-4147-A177-3AD203B41FA5}">
                      <a16:colId xmlns:a16="http://schemas.microsoft.com/office/drawing/2014/main" val="545184705"/>
                    </a:ext>
                  </a:extLst>
                </a:gridCol>
                <a:gridCol w="1741716">
                  <a:extLst>
                    <a:ext uri="{9D8B030D-6E8A-4147-A177-3AD203B41FA5}">
                      <a16:colId xmlns:a16="http://schemas.microsoft.com/office/drawing/2014/main" val="231270718"/>
                    </a:ext>
                  </a:extLst>
                </a:gridCol>
              </a:tblGrid>
              <a:tr h="3237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Century Gothic (Body)"/>
                        </a:rPr>
                        <a:t>Year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Century Gothic (Body)"/>
                        </a:rPr>
                        <a:t>Project A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Century Gothic (Body)"/>
                        </a:rPr>
                        <a:t>Project B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3254333"/>
                  </a:ext>
                </a:extLst>
              </a:tr>
              <a:tr h="3234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-1000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-1000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2641658"/>
                  </a:ext>
                </a:extLst>
              </a:tr>
              <a:tr h="3234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400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8123002"/>
                  </a:ext>
                </a:extLst>
              </a:tr>
              <a:tr h="3234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200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400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7691105"/>
                  </a:ext>
                </a:extLst>
              </a:tr>
              <a:tr h="3234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300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300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1925092"/>
                  </a:ext>
                </a:extLst>
              </a:tr>
              <a:tr h="3395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500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300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0001674"/>
                  </a:ext>
                </a:extLst>
              </a:tr>
              <a:tr h="3395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900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200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5870603"/>
                  </a:ext>
                </a:extLst>
              </a:tr>
              <a:tr h="33958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effectLst/>
                          <a:latin typeface="Century Gothic (Body)"/>
                        </a:rPr>
                        <a:t>IRR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17.32%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20.49%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13539469"/>
                  </a:ext>
                </a:extLst>
              </a:tr>
              <a:tr h="33958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effectLst/>
                          <a:latin typeface="Century Gothic (Body)"/>
                        </a:rPr>
                        <a:t>NPV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₹ 815.89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₹ 552.40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2927438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333379"/>
              </p:ext>
            </p:extLst>
          </p:nvPr>
        </p:nvGraphicFramePr>
        <p:xfrm>
          <a:off x="6458857" y="3643086"/>
          <a:ext cx="5268687" cy="2975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3498">
                  <a:extLst>
                    <a:ext uri="{9D8B030D-6E8A-4147-A177-3AD203B41FA5}">
                      <a16:colId xmlns:a16="http://schemas.microsoft.com/office/drawing/2014/main" val="3542133707"/>
                    </a:ext>
                  </a:extLst>
                </a:gridCol>
                <a:gridCol w="2575189">
                  <a:extLst>
                    <a:ext uri="{9D8B030D-6E8A-4147-A177-3AD203B41FA5}">
                      <a16:colId xmlns:a16="http://schemas.microsoft.com/office/drawing/2014/main" val="3593970692"/>
                    </a:ext>
                  </a:extLst>
                </a:gridCol>
              </a:tblGrid>
              <a:tr h="3339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Century Gothic (Body)"/>
                        </a:rPr>
                        <a:t>Date</a:t>
                      </a:r>
                      <a:endParaRPr lang="en-US" sz="24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  <a:latin typeface="Century Gothic (Body)"/>
                        </a:rPr>
                        <a:t>Cash Flow</a:t>
                      </a:r>
                      <a:endParaRPr lang="en-US" sz="24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7958048"/>
                  </a:ext>
                </a:extLst>
              </a:tr>
              <a:tr h="3339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8/4/2015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-10000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2279964"/>
                  </a:ext>
                </a:extLst>
              </a:tr>
              <a:tr h="3339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8/15/2015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4000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7174340"/>
                  </a:ext>
                </a:extLst>
              </a:tr>
              <a:tr h="3339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3/15/2016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3000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07410221"/>
                  </a:ext>
                </a:extLst>
              </a:tr>
              <a:tr h="3339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4/25/2016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5000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2370801"/>
                  </a:ext>
                </a:extLst>
              </a:tr>
              <a:tr h="350633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7529326"/>
                  </a:ext>
                </a:extLst>
              </a:tr>
              <a:tr h="350633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effectLst/>
                          <a:latin typeface="Century Gothic (Body)"/>
                        </a:rPr>
                        <a:t>XIRR (given)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Century Gothic (Body)"/>
                        </a:rPr>
                        <a:t>26.42%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5348852"/>
                  </a:ext>
                </a:extLst>
              </a:tr>
              <a:tr h="60442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effectLst/>
                          <a:latin typeface="Century Gothic (Body)"/>
                        </a:rPr>
                        <a:t>XIRR (calculated)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Century Gothic (Body)"/>
                        </a:rPr>
                        <a:t>50.55%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893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546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57092" y="487697"/>
            <a:ext cx="10053704" cy="728480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rgbClr val="549E39"/>
                </a:solidFill>
                <a:latin typeface="Colonna MT" panose="04020805060202030203" pitchFamily="82" charset="0"/>
              </a:rPr>
              <a:t>MIRR &amp; Key Takeaways</a:t>
            </a:r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2235201" y="1540762"/>
            <a:ext cx="10568751" cy="8794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Excel Function: =MIRR(</a:t>
            </a:r>
            <a:r>
              <a:rPr lang="en-U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values,finance_rate,reinvestment_rate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 (Body)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lang="en-US" sz="1800" b="1" dirty="0">
              <a:solidFill>
                <a:schemeClr val="accent1">
                  <a:lumMod val="20000"/>
                  <a:lumOff val="80000"/>
                </a:schemeClr>
              </a:solidFill>
              <a:latin typeface="Century Gothic (Body)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880550"/>
              </p:ext>
            </p:extLst>
          </p:nvPr>
        </p:nvGraphicFramePr>
        <p:xfrm>
          <a:off x="757091" y="2508851"/>
          <a:ext cx="3453437" cy="1163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1316">
                  <a:extLst>
                    <a:ext uri="{9D8B030D-6E8A-4147-A177-3AD203B41FA5}">
                      <a16:colId xmlns:a16="http://schemas.microsoft.com/office/drawing/2014/main" val="212609366"/>
                    </a:ext>
                  </a:extLst>
                </a:gridCol>
                <a:gridCol w="962121">
                  <a:extLst>
                    <a:ext uri="{9D8B030D-6E8A-4147-A177-3AD203B41FA5}">
                      <a16:colId xmlns:a16="http://schemas.microsoft.com/office/drawing/2014/main" val="733720289"/>
                    </a:ext>
                  </a:extLst>
                </a:gridCol>
              </a:tblGrid>
              <a:tr h="5816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Century Gothic (Body)"/>
                        </a:rPr>
                        <a:t>Finance rate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10%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6807273"/>
                  </a:ext>
                </a:extLst>
              </a:tr>
              <a:tr h="5816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Century Gothic (Body)"/>
                        </a:rPr>
                        <a:t>Reinvestment Rate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12%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6776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66351"/>
              </p:ext>
            </p:extLst>
          </p:nvPr>
        </p:nvGraphicFramePr>
        <p:xfrm>
          <a:off x="765175" y="4020457"/>
          <a:ext cx="3443967" cy="18603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3781">
                  <a:extLst>
                    <a:ext uri="{9D8B030D-6E8A-4147-A177-3AD203B41FA5}">
                      <a16:colId xmlns:a16="http://schemas.microsoft.com/office/drawing/2014/main" val="1961239436"/>
                    </a:ext>
                  </a:extLst>
                </a:gridCol>
                <a:gridCol w="1560186">
                  <a:extLst>
                    <a:ext uri="{9D8B030D-6E8A-4147-A177-3AD203B41FA5}">
                      <a16:colId xmlns:a16="http://schemas.microsoft.com/office/drawing/2014/main" val="75871209"/>
                    </a:ext>
                  </a:extLst>
                </a:gridCol>
              </a:tblGrid>
              <a:tr h="3561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Century Gothic (Body)"/>
                        </a:rPr>
                        <a:t>Year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Century Gothic (Body)"/>
                        </a:rPr>
                        <a:t>Cash Flow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0915284"/>
                  </a:ext>
                </a:extLst>
              </a:tr>
              <a:tr h="501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-1.6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0998358"/>
                  </a:ext>
                </a:extLst>
              </a:tr>
              <a:tr h="501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1591277"/>
                  </a:ext>
                </a:extLst>
              </a:tr>
              <a:tr h="5013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-10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931174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386816"/>
              </p:ext>
            </p:extLst>
          </p:nvPr>
        </p:nvGraphicFramePr>
        <p:xfrm>
          <a:off x="4549321" y="2562979"/>
          <a:ext cx="3781879" cy="33205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2049">
                  <a:extLst>
                    <a:ext uri="{9D8B030D-6E8A-4147-A177-3AD203B41FA5}">
                      <a16:colId xmlns:a16="http://schemas.microsoft.com/office/drawing/2014/main" val="3861360716"/>
                    </a:ext>
                  </a:extLst>
                </a:gridCol>
                <a:gridCol w="1809830">
                  <a:extLst>
                    <a:ext uri="{9D8B030D-6E8A-4147-A177-3AD203B41FA5}">
                      <a16:colId xmlns:a16="http://schemas.microsoft.com/office/drawing/2014/main" val="1826703569"/>
                    </a:ext>
                  </a:extLst>
                </a:gridCol>
              </a:tblGrid>
              <a:tr h="571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Century Gothic (Body)"/>
                        </a:rPr>
                        <a:t>Discount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Century Gothic (Body)"/>
                        </a:rPr>
                        <a:t>NPV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434491"/>
                  </a:ext>
                </a:extLst>
              </a:tr>
              <a:tr h="544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10%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-0.77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377495"/>
                  </a:ext>
                </a:extLst>
              </a:tr>
              <a:tr h="544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25%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0.00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8796347"/>
                  </a:ext>
                </a:extLst>
              </a:tr>
              <a:tr h="544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110%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0.89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8136249"/>
                  </a:ext>
                </a:extLst>
              </a:tr>
              <a:tr h="544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400%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Century Gothic (Body)"/>
                        </a:rPr>
                        <a:t>0.00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89078"/>
                  </a:ext>
                </a:extLst>
              </a:tr>
              <a:tr h="571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500%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-0.21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938560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22769"/>
              </p:ext>
            </p:extLst>
          </p:nvPr>
        </p:nvGraphicFramePr>
        <p:xfrm>
          <a:off x="8495822" y="5329309"/>
          <a:ext cx="2832100" cy="5370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949">
                  <a:extLst>
                    <a:ext uri="{9D8B030D-6E8A-4147-A177-3AD203B41FA5}">
                      <a16:colId xmlns:a16="http://schemas.microsoft.com/office/drawing/2014/main" val="897730235"/>
                    </a:ext>
                  </a:extLst>
                </a:gridCol>
                <a:gridCol w="1400151">
                  <a:extLst>
                    <a:ext uri="{9D8B030D-6E8A-4147-A177-3AD203B41FA5}">
                      <a16:colId xmlns:a16="http://schemas.microsoft.com/office/drawing/2014/main" val="2105157809"/>
                    </a:ext>
                  </a:extLst>
                </a:gridCol>
              </a:tblGrid>
              <a:tr h="5370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Century Gothic (Body)"/>
                        </a:rPr>
                        <a:t>MIRR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Century Gothic (Body)"/>
                        </a:rPr>
                        <a:t>6.55%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 (Body)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1058284"/>
                  </a:ext>
                </a:extLst>
              </a:tr>
            </a:tbl>
          </a:graphicData>
        </a:graphic>
      </p:graphicFrame>
      <p:sp>
        <p:nvSpPr>
          <p:cNvPr id="13" name="Cloud Callout 12"/>
          <p:cNvSpPr/>
          <p:nvPr/>
        </p:nvSpPr>
        <p:spPr>
          <a:xfrm>
            <a:off x="8669993" y="2432652"/>
            <a:ext cx="2984979" cy="2382327"/>
          </a:xfrm>
          <a:prstGeom prst="cloudCallou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Century Gothic (Body)"/>
              </a:rPr>
              <a:t>MIRR addresses some limitations of conventional IRR.</a:t>
            </a:r>
            <a:endParaRPr lang="en-US" sz="1400" b="1" dirty="0">
              <a:latin typeface="Century Gothic (Body)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3539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390" y="478971"/>
            <a:ext cx="10772002" cy="1063375"/>
          </a:xfrm>
        </p:spPr>
        <p:txBody>
          <a:bodyPr/>
          <a:lstStyle/>
          <a:p>
            <a:pPr algn="ctr"/>
            <a:r>
              <a:rPr lang="en-US" sz="6000" b="1" dirty="0">
                <a:solidFill>
                  <a:srgbClr val="549E39"/>
                </a:solidFill>
                <a:latin typeface="Colonna MT" panose="04020805060202030203" pitchFamily="82" charset="0"/>
              </a:rPr>
              <a:t>Key Takeaways</a:t>
            </a:r>
            <a:endParaRPr lang="en-US" sz="4000" b="1" dirty="0">
              <a:solidFill>
                <a:srgbClr val="549E39"/>
              </a:solidFill>
              <a:latin typeface="Colonna MT" panose="04020805060202030203" pitchFamily="82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21171" y="1966582"/>
            <a:ext cx="102444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PV </a:t>
            </a:r>
            <a:r>
              <a:rPr lang="en-US" altLang="en-US" sz="24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evaluates today's value of future cash flows</a:t>
            </a: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.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PMT </a:t>
            </a:r>
            <a:r>
              <a:rPr lang="en-US" altLang="en-US" sz="24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calculates loan EMI. </a:t>
            </a:r>
            <a:endParaRPr lang="en-US" altLang="en-US" sz="24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NPV </a:t>
            </a:r>
            <a:r>
              <a:rPr lang="en-US" altLang="en-US" sz="24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evaluates investment profitability</a:t>
            </a: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.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 </a:t>
            </a:r>
            <a:r>
              <a:rPr lang="en-US" altLang="en-US" sz="24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XNPV is useful for irregular cash-flow dates. </a:t>
            </a:r>
            <a:endParaRPr lang="en-US" altLang="en-US" sz="24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IRR </a:t>
            </a:r>
            <a:r>
              <a:rPr lang="en-US" altLang="en-US" sz="24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calculates the rate at which NPV becomes zero. </a:t>
            </a:r>
            <a:endParaRPr lang="en-US" altLang="en-US" sz="24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 </a:t>
            </a:r>
            <a:r>
              <a:rPr lang="en-US" altLang="en-US" sz="24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MIRR addresses some limitations of conventional IRR. </a:t>
            </a:r>
            <a:endParaRPr lang="en-US" altLang="en-US" sz="24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 </a:t>
            </a:r>
            <a:r>
              <a:rPr lang="en-US" altLang="en-US" sz="24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NPV and IRR can produce different project rankings. </a:t>
            </a:r>
            <a:endParaRPr lang="en-US" altLang="en-US" sz="2400" b="1" cap="none" dirty="0" smtClean="0">
              <a:solidFill>
                <a:schemeClr val="accent1">
                  <a:lumMod val="40000"/>
                  <a:lumOff val="60000"/>
                </a:schemeClr>
              </a:solidFill>
              <a:latin typeface="Colonna MT" panose="04020805060202030203" pitchFamily="82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 </a:t>
            </a:r>
            <a:r>
              <a:rPr lang="en-US" altLang="en-US" sz="2400" b="1" cap="none" dirty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Excel financial functions make complex financial analysis faster and more systematic</a:t>
            </a:r>
            <a:r>
              <a:rPr lang="en-US" altLang="en-US" sz="2400" b="1" cap="none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olonna MT" panose="04020805060202030203" pitchFamily="82" charset="0"/>
              </a:rPr>
              <a:t>.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29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 txBox="1">
            <a:spLocks/>
          </p:cNvSpPr>
          <p:nvPr/>
        </p:nvSpPr>
        <p:spPr>
          <a:xfrm>
            <a:off x="1154955" y="622216"/>
            <a:ext cx="9750953" cy="111389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600" b="1" dirty="0" smtClean="0">
                <a:solidFill>
                  <a:schemeClr val="bg1">
                    <a:lumMod val="95000"/>
                  </a:schemeClr>
                </a:solidFill>
                <a:latin typeface="Gigi" panose="04040504061007020D02" pitchFamily="82" charset="0"/>
              </a:rPr>
              <a:t>Thank You…</a:t>
            </a:r>
            <a:endParaRPr lang="en-US" sz="7200" b="1" dirty="0" smtClean="0">
              <a:solidFill>
                <a:schemeClr val="bg1">
                  <a:lumMod val="9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84864" y="1736111"/>
            <a:ext cx="10021044" cy="3413038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  <a:t>Turning Numbers into Insights</a:t>
            </a:r>
            <a:r>
              <a:rPr lang="en-US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  <a:t>.</a:t>
            </a:r>
            <a:br>
              <a:rPr lang="en-US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</a:b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  <a:t/>
            </a:r>
            <a:b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</a:b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  <a:t>Turning Insights into Better Decisions.</a:t>
            </a:r>
            <a:b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</a:br>
            <a:r>
              <a:rPr lang="en-US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  <a:t/>
            </a:r>
            <a:br>
              <a:rPr lang="en-US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</a:br>
            <a:r>
              <a:rPr lang="en-US" sz="32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  <a:t>Thank 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  <a:t>you for your time and attention.</a:t>
            </a: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  <a:t/>
            </a:r>
            <a:b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</a:rPr>
            </a:b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9" name="Text Placeholder 3"/>
          <p:cNvSpPr txBox="1">
            <a:spLocks/>
          </p:cNvSpPr>
          <p:nvPr/>
        </p:nvSpPr>
        <p:spPr>
          <a:xfrm>
            <a:off x="757390" y="5342842"/>
            <a:ext cx="6134326" cy="76206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Gigi" panose="04040504061007020D02" pitchFamily="82" charset="0"/>
              </a:rPr>
              <a:t>Prepared by: Nandini Rajput </a:t>
            </a:r>
            <a:r>
              <a:rPr lang="en-US" sz="1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lonna MT" panose="04020805060202030203" pitchFamily="82" charset="0"/>
              </a:rPr>
              <a:t>(MBA – Finance | CMA)</a:t>
            </a:r>
            <a:endParaRPr lang="en-US" sz="1100" dirty="0" smtClean="0">
              <a:solidFill>
                <a:schemeClr val="accent1">
                  <a:lumMod val="20000"/>
                  <a:lumOff val="80000"/>
                </a:schemeClr>
              </a:solidFill>
              <a:latin typeface="Bell MT" panose="020205030603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1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Batch CX-198-MOR-AUG-2026 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Excel project guided by </a:t>
            </a:r>
            <a:r>
              <a:rPr lang="en-US" sz="11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ell MT" panose="020205030603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Manju</a:t>
            </a:r>
            <a:endParaRPr lang="en-US" sz="1100" dirty="0" smtClean="0">
              <a:solidFill>
                <a:schemeClr val="accent1">
                  <a:lumMod val="20000"/>
                  <a:lumOff val="80000"/>
                </a:schemeClr>
              </a:solidFill>
              <a:latin typeface="Bell MT" panose="020205030603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24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10" name="Text Placeholder 3"/>
          <p:cNvSpPr txBox="1">
            <a:spLocks/>
          </p:cNvSpPr>
          <p:nvPr/>
        </p:nvSpPr>
        <p:spPr>
          <a:xfrm>
            <a:off x="7262774" y="5342842"/>
            <a:ext cx="5237412" cy="7471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Gigi" panose="04040504061007020D02" pitchFamily="82" charset="0"/>
              </a:rPr>
              <a:t>Project: financial analytics with </a:t>
            </a:r>
            <a:r>
              <a:rPr 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Gigi" panose="04040504061007020D02" pitchFamily="82" charset="0"/>
              </a:rPr>
              <a:t>AI </a:t>
            </a:r>
            <a:r>
              <a:rPr 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Harlow Solid Italic" panose="04030604020F02020D02" pitchFamily="82" charset="0"/>
              </a:rPr>
              <a:t>									</a:t>
            </a:r>
            <a:r>
              <a:rPr lang="en-US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Gigi" panose="04040504061007020D02" pitchFamily="82" charset="0"/>
              </a:rPr>
              <a:t>CoachX.live</a:t>
            </a:r>
            <a:endParaRPr lang="en-US" sz="2000" b="1" dirty="0" smtClean="0">
              <a:solidFill>
                <a:schemeClr val="accent1">
                  <a:lumMod val="20000"/>
                  <a:lumOff val="80000"/>
                </a:schemeClr>
              </a:solidFill>
              <a:latin typeface="Gigi" panose="0404050406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9935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9" grpId="0"/>
      <p:bldP spid="1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177</TotalTime>
  <Words>1234</Words>
  <Application>Microsoft Office PowerPoint</Application>
  <PresentationFormat>Widescreen</PresentationFormat>
  <Paragraphs>496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Algerian</vt:lpstr>
      <vt:lpstr>Arial</vt:lpstr>
      <vt:lpstr>Bell MT</vt:lpstr>
      <vt:lpstr>Calibri</vt:lpstr>
      <vt:lpstr>Calibri Light</vt:lpstr>
      <vt:lpstr>Century Gothic</vt:lpstr>
      <vt:lpstr>Century Gothic (Body)</vt:lpstr>
      <vt:lpstr>Colonna MT</vt:lpstr>
      <vt:lpstr>Gigi</vt:lpstr>
      <vt:lpstr>Harlow Solid Italic</vt:lpstr>
      <vt:lpstr>Wingdings</vt:lpstr>
      <vt:lpstr>Wingdings 3</vt:lpstr>
      <vt:lpstr>Ion Boardroom</vt:lpstr>
      <vt:lpstr>Financial Analysis Using Excel </vt:lpstr>
      <vt:lpstr>Annuity &amp; Present Value</vt:lpstr>
      <vt:lpstr>EMI/PMT Calculation Using Excel</vt:lpstr>
      <vt:lpstr>PowerPoint Presentation</vt:lpstr>
      <vt:lpstr>PowerPoint Presentation</vt:lpstr>
      <vt:lpstr>NPV: Investment Decision</vt:lpstr>
      <vt:lpstr>NPV: Investment Decision</vt:lpstr>
      <vt:lpstr>NPV: Investment Decision</vt:lpstr>
      <vt:lpstr>IRR: Finding the Investment Return</vt:lpstr>
      <vt:lpstr>IRR: Importance of Cash Flow Signs</vt:lpstr>
      <vt:lpstr>IRR vs NPV: Project Comparison</vt:lpstr>
      <vt:lpstr>MIRR &amp; Key Takeaways</vt:lpstr>
      <vt:lpstr>Key Takeaways</vt:lpstr>
      <vt:lpstr>Turning Numbers into Insights.  Turning Insights into Better Decisions.  Thank you for your time and attention.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nandini rajput</dc:creator>
  <cp:lastModifiedBy>nandini rajput</cp:lastModifiedBy>
  <cp:revision>22</cp:revision>
  <dcterms:created xsi:type="dcterms:W3CDTF">2026-10-07T16:41:10Z</dcterms:created>
  <dcterms:modified xsi:type="dcterms:W3CDTF">2026-10-08T08:14:04Z</dcterms:modified>
</cp:coreProperties>
</file>