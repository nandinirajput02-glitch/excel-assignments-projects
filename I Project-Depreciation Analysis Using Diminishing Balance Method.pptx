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2" r:id="rId1"/>
  </p:sldMasterIdLst>
  <p:sldIdLst>
    <p:sldId id="257" r:id="rId2"/>
    <p:sldId id="256"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94BA"/>
    <a:srgbClr val="3735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7" autoAdjust="0"/>
    <p:restoredTop sz="94660"/>
  </p:normalViewPr>
  <p:slideViewPr>
    <p:cSldViewPr snapToGrid="0">
      <p:cViewPr varScale="1">
        <p:scale>
          <a:sx n="72" d="100"/>
          <a:sy n="72" d="100"/>
        </p:scale>
        <p:origin x="80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nandi\AppData\Roaming\Microsoft\Excel\Comparative%20Analysis%20of%20Depreciation%20Methods%20(version%202).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nandi\AppData\Roaming\Microsoft\Excel\Comparative%20Analysis%20of%20Depreciation%20Methods%20(version%202).xlsb"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Light" panose="020F0302020204030204" pitchFamily="34" charset="0"/>
                <a:ea typeface="Calibri Light" panose="020F0302020204030204" pitchFamily="34" charset="0"/>
                <a:cs typeface="Calibri Light" panose="020F0302020204030204" pitchFamily="34" charset="0"/>
              </a:defRPr>
            </a:pPr>
            <a:r>
              <a:rPr lang="en-US" sz="1800">
                <a:latin typeface="Calibri Light" panose="020F0302020204030204" pitchFamily="34" charset="0"/>
                <a:ea typeface="Calibri Light" panose="020F0302020204030204" pitchFamily="34" charset="0"/>
                <a:cs typeface="Calibri Light" panose="020F0302020204030204" pitchFamily="34" charset="0"/>
              </a:rPr>
              <a:t>Straight Line Method</a:t>
            </a:r>
          </a:p>
        </c:rich>
      </c:tx>
      <c:layout/>
      <c:overlay val="0"/>
      <c:spPr>
        <a:noFill/>
        <a:ln>
          <a:noFill/>
        </a:ln>
        <a:effectLst/>
      </c:spPr>
      <c:txPr>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Light" panose="020F0302020204030204" pitchFamily="34" charset="0"/>
              <a:ea typeface="Calibri Light" panose="020F0302020204030204" pitchFamily="34" charset="0"/>
              <a:cs typeface="Calibri Light" panose="020F0302020204030204" pitchFamily="34" charset="0"/>
            </a:defRPr>
          </a:pPr>
          <a:endParaRPr lang="en-US"/>
        </a:p>
      </c:txPr>
    </c:title>
    <c:autoTitleDeleted val="0"/>
    <c:plotArea>
      <c:layout/>
      <c:barChart>
        <c:barDir val="col"/>
        <c:grouping val="stacked"/>
        <c:varyColors val="0"/>
        <c:ser>
          <c:idx val="0"/>
          <c:order val="0"/>
          <c:tx>
            <c:strRef>
              <c:f>'Depreciation Calculator'!$G$6:$G$8</c:f>
              <c:strCache>
                <c:ptCount val="3"/>
                <c:pt idx="0">
                  <c:v>Asset Cost</c:v>
                </c:pt>
                <c:pt idx="2">
                  <c:v>Year</c:v>
                </c:pt>
              </c:strCache>
            </c:strRef>
          </c:tx>
          <c:spPr>
            <a:gradFill rotWithShape="1">
              <a:gsLst>
                <a:gs pos="0">
                  <a:schemeClr val="accent5">
                    <a:tint val="65000"/>
                    <a:shade val="51000"/>
                    <a:satMod val="130000"/>
                  </a:schemeClr>
                </a:gs>
                <a:gs pos="80000">
                  <a:schemeClr val="accent5">
                    <a:tint val="65000"/>
                    <a:shade val="93000"/>
                    <a:satMod val="130000"/>
                  </a:schemeClr>
                </a:gs>
                <a:gs pos="100000">
                  <a:schemeClr val="accent5">
                    <a:tint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val>
            <c:numRef>
              <c:f>'Depreciation Calculator'!$G$9:$G$19</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val>
          <c:extLst>
            <c:ext xmlns:c16="http://schemas.microsoft.com/office/drawing/2014/chart" uri="{C3380CC4-5D6E-409C-BE32-E72D297353CC}">
              <c16:uniqueId val="{00000000-2110-44A6-B095-1CF3EAF28216}"/>
            </c:ext>
          </c:extLst>
        </c:ser>
        <c:ser>
          <c:idx val="1"/>
          <c:order val="1"/>
          <c:tx>
            <c:strRef>
              <c:f>'Depreciation Calculator'!$H$6:$H$8</c:f>
              <c:strCache>
                <c:ptCount val="3"/>
                <c:pt idx="0">
                  <c:v>Asset Cost</c:v>
                </c:pt>
                <c:pt idx="2">
                  <c:v>Year on Year Depreciation Amount</c:v>
                </c:pt>
              </c:strCache>
            </c:strRef>
          </c:tx>
          <c:spPr>
            <a:gradFill rotWithShape="1">
              <a:gsLst>
                <a:gs pos="0">
                  <a:schemeClr val="accent5">
                    <a:shade val="51000"/>
                    <a:satMod val="130000"/>
                  </a:schemeClr>
                </a:gs>
                <a:gs pos="80000">
                  <a:schemeClr val="accent5">
                    <a:shade val="93000"/>
                    <a:satMod val="130000"/>
                  </a:schemeClr>
                </a:gs>
                <a:gs pos="100000">
                  <a:schemeClr val="accent5">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val>
            <c:numRef>
              <c:f>'Depreciation Calculator'!$H$9:$H$19</c:f>
              <c:numCache>
                <c:formatCode>[$$-409]#,##0.00</c:formatCode>
                <c:ptCount val="11"/>
                <c:pt idx="0">
                  <c:v>0</c:v>
                </c:pt>
                <c:pt idx="1">
                  <c:v>45000</c:v>
                </c:pt>
                <c:pt idx="2">
                  <c:v>45000</c:v>
                </c:pt>
                <c:pt idx="3">
                  <c:v>45000</c:v>
                </c:pt>
                <c:pt idx="4">
                  <c:v>45000</c:v>
                </c:pt>
                <c:pt idx="5">
                  <c:v>45000</c:v>
                </c:pt>
                <c:pt idx="6">
                  <c:v>45000</c:v>
                </c:pt>
                <c:pt idx="7">
                  <c:v>45000</c:v>
                </c:pt>
                <c:pt idx="8">
                  <c:v>45000</c:v>
                </c:pt>
                <c:pt idx="9">
                  <c:v>45000</c:v>
                </c:pt>
                <c:pt idx="10">
                  <c:v>45000</c:v>
                </c:pt>
              </c:numCache>
            </c:numRef>
          </c:val>
          <c:extLst>
            <c:ext xmlns:c16="http://schemas.microsoft.com/office/drawing/2014/chart" uri="{C3380CC4-5D6E-409C-BE32-E72D297353CC}">
              <c16:uniqueId val="{00000001-2110-44A6-B095-1CF3EAF28216}"/>
            </c:ext>
          </c:extLst>
        </c:ser>
        <c:ser>
          <c:idx val="2"/>
          <c:order val="2"/>
          <c:tx>
            <c:strRef>
              <c:f>'Depreciation Calculator'!$I$6:$I$8</c:f>
              <c:strCache>
                <c:ptCount val="3"/>
                <c:pt idx="0">
                  <c:v>$4,50,000.00</c:v>
                </c:pt>
                <c:pt idx="2">
                  <c:v>Book Value</c:v>
                </c:pt>
              </c:strCache>
            </c:strRef>
          </c:tx>
          <c:spPr>
            <a:gradFill rotWithShape="1">
              <a:gsLst>
                <a:gs pos="0">
                  <a:schemeClr val="accent5">
                    <a:shade val="65000"/>
                    <a:shade val="51000"/>
                    <a:satMod val="130000"/>
                  </a:schemeClr>
                </a:gs>
                <a:gs pos="80000">
                  <a:schemeClr val="accent5">
                    <a:shade val="65000"/>
                    <a:shade val="93000"/>
                    <a:satMod val="130000"/>
                  </a:schemeClr>
                </a:gs>
                <a:gs pos="100000">
                  <a:schemeClr val="accent5">
                    <a:shade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val>
            <c:numRef>
              <c:f>'Depreciation Calculator'!$I$9:$I$19</c:f>
              <c:numCache>
                <c:formatCode>[$$-409]#,##0.00</c:formatCode>
                <c:ptCount val="11"/>
                <c:pt idx="0">
                  <c:v>450000</c:v>
                </c:pt>
                <c:pt idx="1">
                  <c:v>405000</c:v>
                </c:pt>
                <c:pt idx="2">
                  <c:v>360000</c:v>
                </c:pt>
                <c:pt idx="3">
                  <c:v>315000</c:v>
                </c:pt>
                <c:pt idx="4">
                  <c:v>270000</c:v>
                </c:pt>
                <c:pt idx="5">
                  <c:v>225000</c:v>
                </c:pt>
                <c:pt idx="6">
                  <c:v>180000</c:v>
                </c:pt>
                <c:pt idx="7">
                  <c:v>135000</c:v>
                </c:pt>
                <c:pt idx="8">
                  <c:v>90000</c:v>
                </c:pt>
                <c:pt idx="9">
                  <c:v>45000</c:v>
                </c:pt>
                <c:pt idx="10">
                  <c:v>0</c:v>
                </c:pt>
              </c:numCache>
            </c:numRef>
          </c:val>
          <c:extLst>
            <c:ext xmlns:c16="http://schemas.microsoft.com/office/drawing/2014/chart" uri="{C3380CC4-5D6E-409C-BE32-E72D297353CC}">
              <c16:uniqueId val="{00000002-2110-44A6-B095-1CF3EAF28216}"/>
            </c:ext>
          </c:extLst>
        </c:ser>
        <c:dLbls>
          <c:showLegendKey val="0"/>
          <c:showVal val="0"/>
          <c:showCatName val="0"/>
          <c:showSerName val="0"/>
          <c:showPercent val="0"/>
          <c:showBubbleSize val="0"/>
        </c:dLbls>
        <c:gapWidth val="150"/>
        <c:overlap val="100"/>
        <c:axId val="1096854080"/>
        <c:axId val="1096859072"/>
      </c:barChart>
      <c:catAx>
        <c:axId val="1096854080"/>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r>
                  <a:rPr lang="en-US">
                    <a:latin typeface="Calibri Light" panose="020F0302020204030204" pitchFamily="34" charset="0"/>
                    <a:ea typeface="Calibri Light" panose="020F0302020204030204" pitchFamily="34" charset="0"/>
                    <a:cs typeface="Calibri Light" panose="020F0302020204030204" pitchFamily="34" charset="0"/>
                  </a:rPr>
                  <a:t>Year</a:t>
                </a:r>
              </a:p>
            </c:rich>
          </c:tx>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title>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crossAx val="1096859072"/>
        <c:crosses val="autoZero"/>
        <c:auto val="1"/>
        <c:lblAlgn val="ctr"/>
        <c:lblOffset val="100"/>
        <c:noMultiLvlLbl val="0"/>
      </c:catAx>
      <c:valAx>
        <c:axId val="1096859072"/>
        <c:scaling>
          <c:orientation val="minMax"/>
        </c:scaling>
        <c:delete val="0"/>
        <c:axPos val="l"/>
        <c:majorGridlines>
          <c:spPr>
            <a:ln w="9525" cap="flat" cmpd="sng" algn="ctr">
              <a:solidFill>
                <a:schemeClr val="dk1">
                  <a:lumMod val="50000"/>
                  <a:lumOff val="50000"/>
                </a:schemeClr>
              </a:solidFill>
              <a:round/>
            </a:ln>
            <a:effectLst/>
          </c:spPr>
        </c:majorGridlines>
        <c:title>
          <c:tx>
            <c:rich>
              <a:bodyPr rot="-5400000" spcFirstLastPara="1" vertOverflow="ellipsis" vert="horz" wrap="square" anchor="ctr" anchorCtr="1"/>
              <a:lstStyle/>
              <a:p>
                <a:pPr>
                  <a:defRPr sz="10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r>
                  <a:rPr lang="en-US" sz="1000">
                    <a:latin typeface="Calibri Light" panose="020F0302020204030204" pitchFamily="34" charset="0"/>
                    <a:ea typeface="Calibri Light" panose="020F0302020204030204" pitchFamily="34" charset="0"/>
                    <a:cs typeface="Calibri Light" panose="020F0302020204030204" pitchFamily="34" charset="0"/>
                  </a:rPr>
                  <a:t>Depreciation</a:t>
                </a:r>
              </a:p>
            </c:rich>
          </c:tx>
          <c:layout/>
          <c:overlay val="0"/>
          <c:spPr>
            <a:noFill/>
            <a:ln>
              <a:noFill/>
            </a:ln>
            <a:effectLst/>
          </c:spPr>
          <c:txPr>
            <a:bodyPr rot="-5400000" spcFirstLastPara="1" vertOverflow="ellipsis" vert="horz" wrap="square" anchor="ctr" anchorCtr="1"/>
            <a:lstStyle/>
            <a:p>
              <a:pPr>
                <a:defRPr sz="10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crossAx val="109685408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1" i="0" u="none" strike="noStrike" kern="1200"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legend>
    <c:plotVisOnly val="1"/>
    <c:dispBlanksAs val="gap"/>
    <c:showDLblsOverMax val="0"/>
  </c:chart>
  <c:spPr>
    <a:solidFill>
      <a:schemeClr val="tx2">
        <a:lumMod val="75000"/>
      </a:schemeClr>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Light" panose="020F0302020204030204" pitchFamily="34" charset="0"/>
                <a:ea typeface="Calibri Light" panose="020F0302020204030204" pitchFamily="34" charset="0"/>
                <a:cs typeface="Calibri Light" panose="020F0302020204030204" pitchFamily="34" charset="0"/>
              </a:defRPr>
            </a:pPr>
            <a:r>
              <a:rPr lang="en-US" sz="1800">
                <a:latin typeface="Calibri Light" panose="020F0302020204030204" pitchFamily="34" charset="0"/>
                <a:ea typeface="Calibri Light" panose="020F0302020204030204" pitchFamily="34" charset="0"/>
                <a:cs typeface="Calibri Light" panose="020F0302020204030204" pitchFamily="34" charset="0"/>
              </a:rPr>
              <a:t>Diminishing Balance Method</a:t>
            </a:r>
          </a:p>
        </c:rich>
      </c:tx>
      <c:layout/>
      <c:overlay val="0"/>
      <c:spPr>
        <a:noFill/>
        <a:ln>
          <a:noFill/>
        </a:ln>
        <a:effectLst/>
      </c:spPr>
      <c:txPr>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Light" panose="020F0302020204030204" pitchFamily="34" charset="0"/>
              <a:ea typeface="Calibri Light" panose="020F0302020204030204" pitchFamily="34" charset="0"/>
              <a:cs typeface="Calibri Light" panose="020F0302020204030204" pitchFamily="34" charset="0"/>
            </a:defRPr>
          </a:pPr>
          <a:endParaRPr lang="en-US"/>
        </a:p>
      </c:txPr>
    </c:title>
    <c:autoTitleDeleted val="0"/>
    <c:plotArea>
      <c:layout/>
      <c:barChart>
        <c:barDir val="col"/>
        <c:grouping val="stacked"/>
        <c:varyColors val="0"/>
        <c:ser>
          <c:idx val="0"/>
          <c:order val="0"/>
          <c:tx>
            <c:strRef>
              <c:f>'Depreciation Calculator'!$H$30</c:f>
              <c:strCache>
                <c:ptCount val="1"/>
                <c:pt idx="0">
                  <c:v>Asset Cost</c:v>
                </c:pt>
              </c:strCache>
            </c:strRef>
          </c:tx>
          <c:spPr>
            <a:gradFill rotWithShape="1">
              <a:gsLst>
                <a:gs pos="0">
                  <a:schemeClr val="accent5">
                    <a:tint val="77000"/>
                    <a:shade val="51000"/>
                    <a:satMod val="130000"/>
                  </a:schemeClr>
                </a:gs>
                <a:gs pos="80000">
                  <a:schemeClr val="accent5">
                    <a:tint val="77000"/>
                    <a:shade val="93000"/>
                    <a:satMod val="130000"/>
                  </a:schemeClr>
                </a:gs>
                <a:gs pos="100000">
                  <a:schemeClr val="accent5">
                    <a:tint val="77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'Depreciation Calculator'!$G$32:$G$43</c:f>
              <c:strCache>
                <c:ptCount val="12"/>
                <c:pt idx="0">
                  <c:v>Year</c:v>
                </c:pt>
                <c:pt idx="1">
                  <c:v>1</c:v>
                </c:pt>
                <c:pt idx="2">
                  <c:v>2</c:v>
                </c:pt>
                <c:pt idx="3">
                  <c:v>3</c:v>
                </c:pt>
                <c:pt idx="4">
                  <c:v>4</c:v>
                </c:pt>
                <c:pt idx="5">
                  <c:v>5</c:v>
                </c:pt>
                <c:pt idx="6">
                  <c:v>6</c:v>
                </c:pt>
                <c:pt idx="7">
                  <c:v>7</c:v>
                </c:pt>
                <c:pt idx="8">
                  <c:v>8</c:v>
                </c:pt>
                <c:pt idx="9">
                  <c:v>9</c:v>
                </c:pt>
                <c:pt idx="10">
                  <c:v>10</c:v>
                </c:pt>
                <c:pt idx="11">
                  <c:v>11</c:v>
                </c:pt>
              </c:strCache>
            </c:strRef>
          </c:cat>
          <c:val>
            <c:numRef>
              <c:f>'Depreciation Calculator'!$H$32:$H$43</c:f>
              <c:numCache>
                <c:formatCode>[$$-409]#,##0.00</c:formatCode>
                <c:ptCount val="12"/>
                <c:pt idx="0" formatCode="General">
                  <c:v>0</c:v>
                </c:pt>
                <c:pt idx="1">
                  <c:v>92552.294374073332</c:v>
                </c:pt>
                <c:pt idx="2">
                  <c:v>73516.900609839722</c:v>
                </c:pt>
                <c:pt idx="3">
                  <c:v>58396.549883814434</c:v>
                </c:pt>
                <c:pt idx="4">
                  <c:v>46386.028383198769</c:v>
                </c:pt>
                <c:pt idx="5">
                  <c:v>36845.732041496689</c:v>
                </c:pt>
                <c:pt idx="6">
                  <c:v>29267.605289645962</c:v>
                </c:pt>
                <c:pt idx="7">
                  <c:v>23248.08524433152</c:v>
                </c:pt>
                <c:pt idx="8">
                  <c:v>18466.610512849471</c:v>
                </c:pt>
                <c:pt idx="9">
                  <c:v>14668.550130012582</c:v>
                </c:pt>
                <c:pt idx="10">
                  <c:v>11651.643530737523</c:v>
                </c:pt>
                <c:pt idx="11">
                  <c:v>0</c:v>
                </c:pt>
              </c:numCache>
            </c:numRef>
          </c:val>
          <c:extLst>
            <c:ext xmlns:c16="http://schemas.microsoft.com/office/drawing/2014/chart" uri="{C3380CC4-5D6E-409C-BE32-E72D297353CC}">
              <c16:uniqueId val="{00000000-EBF7-4F30-988A-3C3C9DB7E66A}"/>
            </c:ext>
          </c:extLst>
        </c:ser>
        <c:ser>
          <c:idx val="1"/>
          <c:order val="1"/>
          <c:tx>
            <c:strRef>
              <c:f>'Depreciation Calculator'!$I$30</c:f>
              <c:strCache>
                <c:ptCount val="1"/>
                <c:pt idx="0">
                  <c:v>$4,50,000.00</c:v>
                </c:pt>
              </c:strCache>
            </c:strRef>
          </c:tx>
          <c:spPr>
            <a:gradFill rotWithShape="1">
              <a:gsLst>
                <a:gs pos="0">
                  <a:schemeClr val="accent5">
                    <a:shade val="76000"/>
                    <a:shade val="51000"/>
                    <a:satMod val="130000"/>
                  </a:schemeClr>
                </a:gs>
                <a:gs pos="80000">
                  <a:schemeClr val="accent5">
                    <a:shade val="76000"/>
                    <a:shade val="93000"/>
                    <a:satMod val="130000"/>
                  </a:schemeClr>
                </a:gs>
                <a:gs pos="100000">
                  <a:schemeClr val="accent5">
                    <a:shade val="76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'Depreciation Calculator'!$G$32:$G$43</c:f>
              <c:strCache>
                <c:ptCount val="12"/>
                <c:pt idx="0">
                  <c:v>Year</c:v>
                </c:pt>
                <c:pt idx="1">
                  <c:v>1</c:v>
                </c:pt>
                <c:pt idx="2">
                  <c:v>2</c:v>
                </c:pt>
                <c:pt idx="3">
                  <c:v>3</c:v>
                </c:pt>
                <c:pt idx="4">
                  <c:v>4</c:v>
                </c:pt>
                <c:pt idx="5">
                  <c:v>5</c:v>
                </c:pt>
                <c:pt idx="6">
                  <c:v>6</c:v>
                </c:pt>
                <c:pt idx="7">
                  <c:v>7</c:v>
                </c:pt>
                <c:pt idx="8">
                  <c:v>8</c:v>
                </c:pt>
                <c:pt idx="9">
                  <c:v>9</c:v>
                </c:pt>
                <c:pt idx="10">
                  <c:v>10</c:v>
                </c:pt>
                <c:pt idx="11">
                  <c:v>11</c:v>
                </c:pt>
              </c:strCache>
            </c:strRef>
          </c:cat>
          <c:val>
            <c:numRef>
              <c:f>'Depreciation Calculator'!$I$32:$I$43</c:f>
              <c:numCache>
                <c:formatCode>[$$-409]#,##0.00</c:formatCode>
                <c:ptCount val="12"/>
                <c:pt idx="0" formatCode="General">
                  <c:v>0</c:v>
                </c:pt>
                <c:pt idx="1">
                  <c:v>450000</c:v>
                </c:pt>
                <c:pt idx="2">
                  <c:v>357447.70562592667</c:v>
                </c:pt>
                <c:pt idx="3">
                  <c:v>283930.80501608696</c:v>
                </c:pt>
                <c:pt idx="4">
                  <c:v>225534.25513227252</c:v>
                </c:pt>
                <c:pt idx="5">
                  <c:v>179148.22674907374</c:v>
                </c:pt>
                <c:pt idx="6">
                  <c:v>142302.49470757705</c:v>
                </c:pt>
                <c:pt idx="7">
                  <c:v>113034.88941793109</c:v>
                </c:pt>
                <c:pt idx="8">
                  <c:v>89786.804173599565</c:v>
                </c:pt>
                <c:pt idx="9">
                  <c:v>71320.193660750097</c:v>
                </c:pt>
                <c:pt idx="10">
                  <c:v>56651.643530737514</c:v>
                </c:pt>
                <c:pt idx="11">
                  <c:v>44999.999999999993</c:v>
                </c:pt>
              </c:numCache>
            </c:numRef>
          </c:val>
          <c:extLst>
            <c:ext xmlns:c16="http://schemas.microsoft.com/office/drawing/2014/chart" uri="{C3380CC4-5D6E-409C-BE32-E72D297353CC}">
              <c16:uniqueId val="{00000001-EBF7-4F30-988A-3C3C9DB7E66A}"/>
            </c:ext>
          </c:extLst>
        </c:ser>
        <c:dLbls>
          <c:showLegendKey val="0"/>
          <c:showVal val="0"/>
          <c:showCatName val="0"/>
          <c:showSerName val="0"/>
          <c:showPercent val="0"/>
          <c:showBubbleSize val="0"/>
        </c:dLbls>
        <c:gapWidth val="150"/>
        <c:overlap val="100"/>
        <c:axId val="1096854080"/>
        <c:axId val="1096859072"/>
      </c:barChart>
      <c:catAx>
        <c:axId val="1096854080"/>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r>
                  <a:rPr lang="en-US">
                    <a:latin typeface="Calibri Light" panose="020F0302020204030204" pitchFamily="34" charset="0"/>
                    <a:ea typeface="Calibri Light" panose="020F0302020204030204" pitchFamily="34" charset="0"/>
                    <a:cs typeface="Calibri Light" panose="020F0302020204030204" pitchFamily="34" charset="0"/>
                  </a:rPr>
                  <a:t>Year</a:t>
                </a:r>
              </a:p>
            </c:rich>
          </c:tx>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crossAx val="1096859072"/>
        <c:crosses val="autoZero"/>
        <c:auto val="1"/>
        <c:lblAlgn val="ctr"/>
        <c:lblOffset val="100"/>
        <c:noMultiLvlLbl val="0"/>
      </c:catAx>
      <c:valAx>
        <c:axId val="1096859072"/>
        <c:scaling>
          <c:orientation val="minMax"/>
        </c:scaling>
        <c:delete val="0"/>
        <c:axPos val="l"/>
        <c:majorGridlines>
          <c:spPr>
            <a:ln w="9525" cap="flat" cmpd="sng" algn="ctr">
              <a:solidFill>
                <a:schemeClr val="dk1">
                  <a:lumMod val="50000"/>
                  <a:lumOff val="50000"/>
                </a:schemeClr>
              </a:solidFill>
              <a:round/>
            </a:ln>
            <a:effectLst/>
          </c:spPr>
        </c:majorGridlines>
        <c:title>
          <c:tx>
            <c:rich>
              <a:bodyPr rot="-5400000" spcFirstLastPara="1" vertOverflow="ellipsis" vert="horz" wrap="square" anchor="ctr" anchorCtr="1"/>
              <a:lstStyle/>
              <a:p>
                <a:pPr>
                  <a:defRPr sz="10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r>
                  <a:rPr lang="en-US" sz="1000">
                    <a:latin typeface="Calibri Light" panose="020F0302020204030204" pitchFamily="34" charset="0"/>
                    <a:ea typeface="Calibri Light" panose="020F0302020204030204" pitchFamily="34" charset="0"/>
                    <a:cs typeface="Calibri Light" panose="020F0302020204030204" pitchFamily="34" charset="0"/>
                  </a:rPr>
                  <a:t>Depreciation</a:t>
                </a:r>
              </a:p>
            </c:rich>
          </c:tx>
          <c:layout/>
          <c:overlay val="0"/>
          <c:spPr>
            <a:noFill/>
            <a:ln>
              <a:noFill/>
            </a:ln>
            <a:effectLst/>
          </c:spPr>
          <c:txPr>
            <a:bodyPr rot="-5400000" spcFirstLastPara="1" vertOverflow="ellipsis" vert="horz" wrap="square" anchor="ctr" anchorCtr="1"/>
            <a:lstStyle/>
            <a:p>
              <a:pPr>
                <a:defRPr sz="1000" b="1" i="0" u="none" strike="noStrike" kern="1200" cap="all"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crossAx val="109685408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1" i="0" u="none" strike="noStrike" kern="1200" baseline="0">
              <a:solidFill>
                <a:schemeClr val="lt1">
                  <a:lumMod val="85000"/>
                </a:schemeClr>
              </a:solidFill>
              <a:latin typeface="Calibri Light" panose="020F0302020204030204" pitchFamily="34" charset="0"/>
              <a:ea typeface="Calibri Light" panose="020F0302020204030204" pitchFamily="34" charset="0"/>
              <a:cs typeface="Calibri Light" panose="020F0302020204030204" pitchFamily="34" charset="0"/>
            </a:defRPr>
          </a:pPr>
          <a:endParaRPr lang="en-US"/>
        </a:p>
      </c:txPr>
    </c:legend>
    <c:plotVisOnly val="1"/>
    <c:dispBlanksAs val="gap"/>
    <c:showDLblsOverMax val="0"/>
  </c:chart>
  <c:spPr>
    <a:solidFill>
      <a:schemeClr val="tx2">
        <a:lumMod val="75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1698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0129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2135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46597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8077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3391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6311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401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7522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3878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24534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1366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49519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2864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902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333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471042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298016" cy="4228706"/>
          </a:xfrm>
        </p:spPr>
        <p:txBody>
          <a:bodyPr>
            <a:noAutofit/>
          </a:bodyPr>
          <a:lstStyle/>
          <a:p>
            <a:pPr algn="ctr"/>
            <a:r>
              <a:rPr lang="en-US" sz="4000" b="1" i="1" dirty="0" smtClean="0">
                <a:solidFill>
                  <a:schemeClr val="accent6">
                    <a:lumMod val="75000"/>
                  </a:schemeClr>
                </a:solidFill>
                <a:latin typeface="Colonna MT" panose="04020805060202030203" pitchFamily="82" charset="0"/>
              </a:rPr>
              <a:t/>
            </a:r>
            <a:br>
              <a:rPr lang="en-US" sz="4000" b="1" i="1" dirty="0" smtClean="0">
                <a:solidFill>
                  <a:schemeClr val="accent6">
                    <a:lumMod val="75000"/>
                  </a:schemeClr>
                </a:solidFill>
                <a:latin typeface="Colonna MT" panose="04020805060202030203" pitchFamily="82" charset="0"/>
              </a:rPr>
            </a:br>
            <a:r>
              <a:rPr lang="en-US" sz="6000" b="1" i="1" dirty="0" smtClean="0">
                <a:solidFill>
                  <a:srgbClr val="3494BA"/>
                </a:solidFill>
                <a:latin typeface="Colonna MT" panose="04020805060202030203" pitchFamily="82" charset="0"/>
              </a:rPr>
              <a:t/>
            </a:r>
            <a:br>
              <a:rPr lang="en-US" sz="6000" b="1" i="1" dirty="0" smtClean="0">
                <a:solidFill>
                  <a:srgbClr val="3494BA"/>
                </a:solidFill>
                <a:latin typeface="Colonna MT" panose="04020805060202030203" pitchFamily="82" charset="0"/>
              </a:rPr>
            </a:br>
            <a:r>
              <a:rPr lang="en-US" sz="6000" b="1" i="1" dirty="0" smtClean="0">
                <a:solidFill>
                  <a:srgbClr val="3494BA"/>
                </a:solidFill>
                <a:latin typeface="Colonna MT" panose="04020805060202030203" pitchFamily="82" charset="0"/>
              </a:rPr>
              <a:t>Depreciation Analysis Using Excel</a:t>
            </a:r>
            <a:br>
              <a:rPr lang="en-US" sz="6000" b="1" i="1" dirty="0" smtClean="0">
                <a:solidFill>
                  <a:srgbClr val="3494BA"/>
                </a:solidFill>
                <a:latin typeface="Colonna MT" panose="04020805060202030203" pitchFamily="82" charset="0"/>
              </a:rPr>
            </a:br>
            <a:r>
              <a:rPr lang="en-US" sz="6000" b="1" i="1" dirty="0" smtClean="0">
                <a:solidFill>
                  <a:srgbClr val="3494BA"/>
                </a:solidFill>
                <a:latin typeface="Colonna MT" panose="04020805060202030203" pitchFamily="82" charset="0"/>
              </a:rPr>
              <a:t/>
            </a:r>
            <a:br>
              <a:rPr lang="en-US" sz="6000" b="1" i="1" dirty="0" smtClean="0">
                <a:solidFill>
                  <a:srgbClr val="3494BA"/>
                </a:solidFill>
                <a:latin typeface="Colonna MT" panose="04020805060202030203" pitchFamily="82" charset="0"/>
              </a:rPr>
            </a:br>
            <a:endParaRPr lang="en-US" sz="6000" b="1" i="1" dirty="0">
              <a:solidFill>
                <a:srgbClr val="3494BA"/>
              </a:solidFill>
              <a:latin typeface="Colonna MT" panose="04020805060202030203" pitchFamily="82" charset="0"/>
            </a:endParaRPr>
          </a:p>
        </p:txBody>
      </p:sp>
      <p:sp>
        <p:nvSpPr>
          <p:cNvPr id="3" name="Text Placeholder 2"/>
          <p:cNvSpPr>
            <a:spLocks noGrp="1"/>
          </p:cNvSpPr>
          <p:nvPr>
            <p:ph type="body" sz="quarter" idx="13"/>
          </p:nvPr>
        </p:nvSpPr>
        <p:spPr>
          <a:xfrm>
            <a:off x="1832831" y="2507185"/>
            <a:ext cx="9077909" cy="1204686"/>
          </a:xfrm>
        </p:spPr>
        <p:txBody>
          <a:bodyPr/>
          <a:lstStyle/>
          <a:p>
            <a:pPr algn="ctr"/>
            <a:r>
              <a:rPr lang="en-US" sz="3200" b="1" dirty="0" smtClean="0">
                <a:solidFill>
                  <a:srgbClr val="002060"/>
                </a:solidFill>
                <a:latin typeface="Colonna MT" panose="04020805060202030203" pitchFamily="82" charset="0"/>
              </a:rPr>
              <a:t>Comparison of Straight Line Method &amp; Diminishing Balance Method</a:t>
            </a:r>
            <a:endParaRPr lang="en-US" sz="3200" b="1" dirty="0">
              <a:solidFill>
                <a:srgbClr val="002060"/>
              </a:solidFill>
              <a:latin typeface="Colonna MT" panose="04020805060202030203" pitchFamily="82" charset="0"/>
            </a:endParaRPr>
          </a:p>
        </p:txBody>
      </p:sp>
      <p:sp>
        <p:nvSpPr>
          <p:cNvPr id="9" name="Text Placeholder 3"/>
          <p:cNvSpPr txBox="1">
            <a:spLocks/>
          </p:cNvSpPr>
          <p:nvPr/>
        </p:nvSpPr>
        <p:spPr>
          <a:xfrm>
            <a:off x="1566911" y="4932343"/>
            <a:ext cx="8266202" cy="1925657"/>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3000" b="1" dirty="0" smtClean="0">
                <a:solidFill>
                  <a:srgbClr val="373545"/>
                </a:solidFill>
                <a:latin typeface="Harlow Solid Italic" panose="04030604020F02020D02" pitchFamily="82" charset="0"/>
              </a:rPr>
              <a:t>Prepared by: Nandini Rajput </a:t>
            </a:r>
            <a:r>
              <a:rPr lang="en-US" sz="1400" b="1" dirty="0" smtClean="0">
                <a:solidFill>
                  <a:srgbClr val="373545"/>
                </a:solidFill>
                <a:latin typeface="Harlow Solid Italic" panose="04030604020F02020D02" pitchFamily="82" charset="0"/>
              </a:rPr>
              <a:t>(</a:t>
            </a:r>
            <a:r>
              <a:rPr lang="en-US" sz="1400" dirty="0" smtClean="0">
                <a:latin typeface="Harlow Solid Italic" panose="04030604020F02020D02" pitchFamily="82" charset="0"/>
              </a:rPr>
              <a:t>MBA – Finance | CMA</a:t>
            </a:r>
            <a:r>
              <a:rPr lang="en-US" sz="1400" b="1" dirty="0" smtClean="0">
                <a:solidFill>
                  <a:srgbClr val="373545"/>
                </a:solidFill>
                <a:latin typeface="Harlow Solid Italic" panose="04030604020F02020D02" pitchFamily="82" charset="0"/>
              </a:rPr>
              <a:t>)</a:t>
            </a:r>
          </a:p>
          <a:p>
            <a:r>
              <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p>
          <a:p>
            <a:r>
              <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Batch CX-198-MOR-AUG-2026 </a:t>
            </a:r>
          </a:p>
          <a:p>
            <a:r>
              <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Excel project guided by </a:t>
            </a:r>
            <a:r>
              <a:rPr lang="en-US" sz="1600" dirty="0" err="1"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Manju</a:t>
            </a:r>
            <a:endPar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a:p>
            <a:endParaRPr lang="en-US" sz="3200" b="1" dirty="0" smtClean="0">
              <a:solidFill>
                <a:srgbClr val="373545"/>
              </a:solidFill>
              <a:latin typeface="Harlow Solid Italic" panose="04030604020F02020D02" pitchFamily="82" charset="0"/>
            </a:endParaRPr>
          </a:p>
        </p:txBody>
      </p:sp>
      <p:sp>
        <p:nvSpPr>
          <p:cNvPr id="10" name="Text Placeholder 3"/>
          <p:cNvSpPr txBox="1">
            <a:spLocks/>
          </p:cNvSpPr>
          <p:nvPr/>
        </p:nvSpPr>
        <p:spPr>
          <a:xfrm>
            <a:off x="7381460" y="6006706"/>
            <a:ext cx="5237412" cy="851294"/>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2400" b="1" dirty="0">
                <a:latin typeface="Harlow Solid Italic" panose="04030604020F02020D02" pitchFamily="82" charset="0"/>
              </a:rPr>
              <a:t>Project: financial analytics with </a:t>
            </a:r>
            <a:r>
              <a:rPr lang="en-US" sz="2400" b="1" dirty="0" smtClean="0">
                <a:latin typeface="Harlow Solid Italic" panose="04030604020F02020D02" pitchFamily="82" charset="0"/>
              </a:rPr>
              <a:t>AI 									</a:t>
            </a:r>
            <a:r>
              <a:rPr lang="en-US" sz="2000" dirty="0" err="1" smtClean="0">
                <a:latin typeface="Harlow Solid Italic" panose="04030604020F02020D02" pitchFamily="82" charset="0"/>
              </a:rPr>
              <a:t>CoachX.live</a:t>
            </a:r>
            <a:endParaRPr lang="en-US" sz="2400" dirty="0" smtClean="0">
              <a:solidFill>
                <a:srgbClr val="373545"/>
              </a:solidFill>
              <a:latin typeface="Harlow Solid Italic" panose="04030604020F02020D02" pitchFamily="82" charset="0"/>
            </a:endParaRPr>
          </a:p>
        </p:txBody>
      </p:sp>
    </p:spTree>
    <p:extLst>
      <p:ext uri="{BB962C8B-B14F-4D97-AF65-F5344CB8AC3E}">
        <p14:creationId xmlns:p14="http://schemas.microsoft.com/office/powerpoint/2010/main" val="2311568115"/>
      </p:ext>
    </p:extLst>
  </p:cSld>
  <p:clrMapOvr>
    <a:masterClrMapping/>
  </p:clrMapOvr>
  <mc:AlternateContent xmlns:mc="http://schemas.openxmlformats.org/markup-compatibility/2006">
    <mc:Choice xmlns:p14="http://schemas.microsoft.com/office/powerpoint/2010/main" Requires="p14">
      <p:transition spd="slow" p14:dur="1500" advClick="0" advTm="3000">
        <p14:window dir="vert"/>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randombar(horizontal)">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6470" y="1029288"/>
            <a:ext cx="8915399" cy="1770744"/>
          </a:xfrm>
        </p:spPr>
        <p:txBody>
          <a:bodyPr>
            <a:noAutofit/>
          </a:bodyPr>
          <a:lstStyle/>
          <a:p>
            <a:r>
              <a:rPr lang="en-US" sz="7200" i="1" dirty="0" smtClean="0">
                <a:solidFill>
                  <a:srgbClr val="3494BA"/>
                </a:solidFill>
                <a:latin typeface="Colonna MT" panose="04020805060202030203" pitchFamily="82" charset="0"/>
              </a:rPr>
              <a:t/>
            </a:r>
            <a:br>
              <a:rPr lang="en-US" sz="7200" i="1" dirty="0" smtClean="0">
                <a:solidFill>
                  <a:srgbClr val="3494BA"/>
                </a:solidFill>
                <a:latin typeface="Colonna MT" panose="04020805060202030203" pitchFamily="82" charset="0"/>
              </a:rPr>
            </a:br>
            <a:r>
              <a:rPr lang="en-US" sz="7200" b="1" i="1" dirty="0">
                <a:solidFill>
                  <a:srgbClr val="3494BA"/>
                </a:solidFill>
                <a:latin typeface="Colonna MT" panose="04020805060202030203" pitchFamily="82" charset="0"/>
              </a:rPr>
              <a:t>Project Objective</a:t>
            </a:r>
            <a:r>
              <a:rPr lang="en-US" sz="7200" i="1" dirty="0" smtClean="0">
                <a:solidFill>
                  <a:srgbClr val="3494BA"/>
                </a:solidFill>
                <a:latin typeface="Colonna MT" panose="04020805060202030203" pitchFamily="82" charset="0"/>
              </a:rPr>
              <a:t/>
            </a:r>
            <a:br>
              <a:rPr lang="en-US" sz="7200" i="1" dirty="0" smtClean="0">
                <a:solidFill>
                  <a:srgbClr val="3494BA"/>
                </a:solidFill>
                <a:latin typeface="Colonna MT" panose="04020805060202030203" pitchFamily="82" charset="0"/>
              </a:rPr>
            </a:br>
            <a:endParaRPr lang="en-US" sz="7200" i="1" dirty="0">
              <a:solidFill>
                <a:srgbClr val="3494BA"/>
              </a:solidFill>
            </a:endParaRPr>
          </a:p>
        </p:txBody>
      </p:sp>
      <p:sp>
        <p:nvSpPr>
          <p:cNvPr id="7" name="Rectangle 3"/>
          <p:cNvSpPr>
            <a:spLocks noGrp="1" noChangeArrowheads="1"/>
          </p:cNvSpPr>
          <p:nvPr>
            <p:ph type="subTitle" idx="1"/>
          </p:nvPr>
        </p:nvSpPr>
        <p:spPr bwMode="auto">
          <a:xfrm>
            <a:off x="2264230" y="1231501"/>
            <a:ext cx="992777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3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3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To understand the concept of depreciation.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3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To calculate depreciation using two commonly used methods.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3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To prepare an annual depreciation schedule using Excel.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3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To compare the depreciation pattern under both methods.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3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To analyze the impact of depreciation on the asset's book value.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3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To develop practical Excel skills using formulas and structured calculations. </a:t>
            </a:r>
          </a:p>
        </p:txBody>
      </p:sp>
    </p:spTree>
    <p:extLst>
      <p:ext uri="{BB962C8B-B14F-4D97-AF65-F5344CB8AC3E}">
        <p14:creationId xmlns:p14="http://schemas.microsoft.com/office/powerpoint/2010/main" val="2071876592"/>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 calcmode="lin" valueType="num">
                                      <p:cBhvr additive="base">
                                        <p:cTn id="12"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 calcmode="lin" valueType="num">
                                      <p:cBhvr additive="base">
                                        <p:cTn id="18"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 calcmode="lin" valueType="num">
                                      <p:cBhvr additive="base">
                                        <p:cTn id="24"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 calcmode="lin" valueType="num">
                                      <p:cBhvr additive="base">
                                        <p:cTn id="30"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anim calcmode="lin" valueType="num">
                                      <p:cBhvr additive="base">
                                        <p:cTn id="36"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 calcmode="lin" valueType="num">
                                      <p:cBhvr additive="base">
                                        <p:cTn id="42"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1025" y="435429"/>
            <a:ext cx="8911687" cy="1280890"/>
          </a:xfrm>
        </p:spPr>
        <p:txBody>
          <a:bodyPr>
            <a:normAutofit/>
          </a:bodyPr>
          <a:lstStyle/>
          <a:p>
            <a:r>
              <a:rPr lang="en-US" sz="7200" b="1" i="1" dirty="0" smtClean="0">
                <a:solidFill>
                  <a:srgbClr val="3494BA"/>
                </a:solidFill>
                <a:latin typeface="Colonna MT" panose="04020805060202030203" pitchFamily="82" charset="0"/>
              </a:rPr>
              <a:t> Asset </a:t>
            </a:r>
            <a:r>
              <a:rPr lang="en-US" sz="7200" b="1" i="1" dirty="0">
                <a:solidFill>
                  <a:srgbClr val="3494BA"/>
                </a:solidFill>
                <a:latin typeface="Colonna MT" panose="04020805060202030203" pitchFamily="82" charset="0"/>
              </a:rPr>
              <a:t>Information</a:t>
            </a:r>
          </a:p>
        </p:txBody>
      </p:sp>
      <p:graphicFrame>
        <p:nvGraphicFramePr>
          <p:cNvPr id="5" name="Table 4"/>
          <p:cNvGraphicFramePr>
            <a:graphicFrameLocks noGrp="1"/>
          </p:cNvGraphicFramePr>
          <p:nvPr>
            <p:extLst>
              <p:ext uri="{D42A27DB-BD31-4B8C-83A1-F6EECF244321}">
                <p14:modId xmlns:p14="http://schemas.microsoft.com/office/powerpoint/2010/main" val="381492960"/>
              </p:ext>
            </p:extLst>
          </p:nvPr>
        </p:nvGraphicFramePr>
        <p:xfrm>
          <a:off x="2722395" y="1587500"/>
          <a:ext cx="8606971" cy="3874716"/>
        </p:xfrm>
        <a:graphic>
          <a:graphicData uri="http://schemas.openxmlformats.org/drawingml/2006/table">
            <a:tbl>
              <a:tblPr firstRow="1" bandRow="1">
                <a:tableStyleId>{5C22544A-7EE6-4342-B048-85BDC9FD1C3A}</a:tableStyleId>
              </a:tblPr>
              <a:tblGrid>
                <a:gridCol w="6569314">
                  <a:extLst>
                    <a:ext uri="{9D8B030D-6E8A-4147-A177-3AD203B41FA5}">
                      <a16:colId xmlns:a16="http://schemas.microsoft.com/office/drawing/2014/main" val="3401378905"/>
                    </a:ext>
                  </a:extLst>
                </a:gridCol>
                <a:gridCol w="2037657">
                  <a:extLst>
                    <a:ext uri="{9D8B030D-6E8A-4147-A177-3AD203B41FA5}">
                      <a16:colId xmlns:a16="http://schemas.microsoft.com/office/drawing/2014/main" val="1738528484"/>
                    </a:ext>
                  </a:extLst>
                </a:gridCol>
              </a:tblGrid>
              <a:tr h="645786">
                <a:tc>
                  <a:txBody>
                    <a:bodyPr/>
                    <a:lstStyle/>
                    <a:p>
                      <a:pPr algn="ctr"/>
                      <a:r>
                        <a:rPr lang="en-US" sz="2400" dirty="0"/>
                        <a:t>Particular</a:t>
                      </a:r>
                      <a:endParaRPr lang="en-US" dirty="0"/>
                    </a:p>
                  </a:txBody>
                  <a:tcPr anchor="ctr"/>
                </a:tc>
                <a:tc>
                  <a:txBody>
                    <a:bodyPr/>
                    <a:lstStyle/>
                    <a:p>
                      <a:pPr algn="ctr"/>
                      <a:r>
                        <a:rPr lang="en-US" sz="2400" dirty="0"/>
                        <a:t>Value</a:t>
                      </a:r>
                    </a:p>
                  </a:txBody>
                  <a:tcPr anchor="ctr"/>
                </a:tc>
                <a:extLst>
                  <a:ext uri="{0D108BD9-81ED-4DB2-BD59-A6C34878D82A}">
                    <a16:rowId xmlns:a16="http://schemas.microsoft.com/office/drawing/2014/main" val="3591643622"/>
                  </a:ext>
                </a:extLst>
              </a:tr>
              <a:tr h="645786">
                <a:tc>
                  <a:txBody>
                    <a:bodyPr/>
                    <a:lstStyle/>
                    <a:p>
                      <a:r>
                        <a:rPr lang="en-US" sz="2000" dirty="0"/>
                        <a:t>Original Asset Cost</a:t>
                      </a:r>
                    </a:p>
                  </a:txBody>
                  <a:tcPr anchor="ctr"/>
                </a:tc>
                <a:tc>
                  <a:txBody>
                    <a:bodyPr/>
                    <a:lstStyle/>
                    <a:p>
                      <a:r>
                        <a:rPr lang="en-US" sz="2000"/>
                        <a:t>$450,000</a:t>
                      </a:r>
                    </a:p>
                  </a:txBody>
                  <a:tcPr anchor="ctr"/>
                </a:tc>
                <a:extLst>
                  <a:ext uri="{0D108BD9-81ED-4DB2-BD59-A6C34878D82A}">
                    <a16:rowId xmlns:a16="http://schemas.microsoft.com/office/drawing/2014/main" val="2889914026"/>
                  </a:ext>
                </a:extLst>
              </a:tr>
              <a:tr h="645786">
                <a:tc>
                  <a:txBody>
                    <a:bodyPr/>
                    <a:lstStyle/>
                    <a:p>
                      <a:r>
                        <a:rPr lang="en-US" sz="2000" dirty="0"/>
                        <a:t>Additional Asset Cost</a:t>
                      </a:r>
                    </a:p>
                  </a:txBody>
                  <a:tcPr anchor="ctr"/>
                </a:tc>
                <a:tc>
                  <a:txBody>
                    <a:bodyPr/>
                    <a:lstStyle/>
                    <a:p>
                      <a:r>
                        <a:rPr lang="en-US" sz="2000"/>
                        <a:t>$50,000</a:t>
                      </a:r>
                    </a:p>
                  </a:txBody>
                  <a:tcPr anchor="ctr"/>
                </a:tc>
                <a:extLst>
                  <a:ext uri="{0D108BD9-81ED-4DB2-BD59-A6C34878D82A}">
                    <a16:rowId xmlns:a16="http://schemas.microsoft.com/office/drawing/2014/main" val="653819351"/>
                  </a:ext>
                </a:extLst>
              </a:tr>
              <a:tr h="645786">
                <a:tc>
                  <a:txBody>
                    <a:bodyPr/>
                    <a:lstStyle/>
                    <a:p>
                      <a:r>
                        <a:rPr lang="en-US" sz="2000" b="1" dirty="0"/>
                        <a:t>Total Asset Price</a:t>
                      </a:r>
                      <a:endParaRPr lang="en-US" sz="2000" dirty="0"/>
                    </a:p>
                  </a:txBody>
                  <a:tcPr anchor="ctr"/>
                </a:tc>
                <a:tc>
                  <a:txBody>
                    <a:bodyPr/>
                    <a:lstStyle/>
                    <a:p>
                      <a:r>
                        <a:rPr lang="en-US" sz="2000" b="1"/>
                        <a:t>$500,000</a:t>
                      </a:r>
                      <a:endParaRPr lang="en-US" sz="2000"/>
                    </a:p>
                  </a:txBody>
                  <a:tcPr anchor="ctr"/>
                </a:tc>
                <a:extLst>
                  <a:ext uri="{0D108BD9-81ED-4DB2-BD59-A6C34878D82A}">
                    <a16:rowId xmlns:a16="http://schemas.microsoft.com/office/drawing/2014/main" val="192308038"/>
                  </a:ext>
                </a:extLst>
              </a:tr>
              <a:tr h="645786">
                <a:tc>
                  <a:txBody>
                    <a:bodyPr/>
                    <a:lstStyle/>
                    <a:p>
                      <a:r>
                        <a:rPr lang="en-US" sz="2000" dirty="0"/>
                        <a:t>Scrap Value</a:t>
                      </a:r>
                    </a:p>
                  </a:txBody>
                  <a:tcPr anchor="ctr"/>
                </a:tc>
                <a:tc>
                  <a:txBody>
                    <a:bodyPr/>
                    <a:lstStyle/>
                    <a:p>
                      <a:r>
                        <a:rPr lang="en-US" sz="2000" dirty="0"/>
                        <a:t>$50,000</a:t>
                      </a:r>
                    </a:p>
                  </a:txBody>
                  <a:tcPr anchor="ctr"/>
                </a:tc>
                <a:extLst>
                  <a:ext uri="{0D108BD9-81ED-4DB2-BD59-A6C34878D82A}">
                    <a16:rowId xmlns:a16="http://schemas.microsoft.com/office/drawing/2014/main" val="805589514"/>
                  </a:ext>
                </a:extLst>
              </a:tr>
              <a:tr h="645786">
                <a:tc>
                  <a:txBody>
                    <a:bodyPr/>
                    <a:lstStyle/>
                    <a:p>
                      <a:r>
                        <a:rPr lang="en-US" sz="2000" dirty="0"/>
                        <a:t>Useful Life</a:t>
                      </a:r>
                    </a:p>
                  </a:txBody>
                  <a:tcPr anchor="ctr"/>
                </a:tc>
                <a:tc>
                  <a:txBody>
                    <a:bodyPr/>
                    <a:lstStyle/>
                    <a:p>
                      <a:r>
                        <a:rPr lang="en-US" sz="2000" dirty="0"/>
                        <a:t>10 Years</a:t>
                      </a:r>
                    </a:p>
                  </a:txBody>
                  <a:tcPr anchor="ctr"/>
                </a:tc>
                <a:extLst>
                  <a:ext uri="{0D108BD9-81ED-4DB2-BD59-A6C34878D82A}">
                    <a16:rowId xmlns:a16="http://schemas.microsoft.com/office/drawing/2014/main" val="3705347269"/>
                  </a:ext>
                </a:extLst>
              </a:tr>
            </a:tbl>
          </a:graphicData>
        </a:graphic>
      </p:graphicFrame>
      <p:sp>
        <p:nvSpPr>
          <p:cNvPr id="10" name="Text Placeholder 3"/>
          <p:cNvSpPr txBox="1">
            <a:spLocks/>
          </p:cNvSpPr>
          <p:nvPr/>
        </p:nvSpPr>
        <p:spPr>
          <a:xfrm>
            <a:off x="5389050" y="11119149"/>
            <a:ext cx="6591334" cy="3672450"/>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sz="2400" b="1"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Title 1"/>
          <p:cNvSpPr txBox="1">
            <a:spLocks/>
          </p:cNvSpPr>
          <p:nvPr/>
        </p:nvSpPr>
        <p:spPr>
          <a:xfrm>
            <a:off x="2722395" y="5869210"/>
            <a:ext cx="9257989" cy="128089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a small note</a:t>
            </a:r>
            <a:r>
              <a:rPr lang="en-US" sz="2000" b="1"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a:t>
            </a:r>
          </a:p>
          <a:p>
            <a:r>
              <a:rPr lang="en-US" sz="2200" b="1"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Depreciable </a:t>
            </a:r>
            <a:r>
              <a:rPr lang="en-US" sz="22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Amount = Asset Price − Scrap Value = $500,000 − $50,000 = $450,000</a:t>
            </a:r>
            <a:endParaRPr lang="en-US" sz="2200" b="1" i="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210660507"/>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9839" y="501684"/>
            <a:ext cx="8911687" cy="1280890"/>
          </a:xfrm>
        </p:spPr>
        <p:txBody>
          <a:bodyPr>
            <a:normAutofit/>
          </a:bodyPr>
          <a:lstStyle/>
          <a:p>
            <a:r>
              <a:rPr lang="en-US" sz="6600" b="1" i="1" dirty="0">
                <a:solidFill>
                  <a:srgbClr val="3494BA"/>
                </a:solidFill>
                <a:latin typeface="Colonna MT" panose="04020805060202030203" pitchFamily="82" charset="0"/>
              </a:rPr>
              <a:t>Straight Line Method</a:t>
            </a:r>
          </a:p>
        </p:txBody>
      </p:sp>
      <p:sp>
        <p:nvSpPr>
          <p:cNvPr id="6" name="Rectangle 2"/>
          <p:cNvSpPr>
            <a:spLocks noGrp="1" noChangeArrowheads="1"/>
          </p:cNvSpPr>
          <p:nvPr>
            <p:ph idx="1"/>
          </p:nvPr>
        </p:nvSpPr>
        <p:spPr bwMode="auto">
          <a:xfrm>
            <a:off x="2830286" y="1591563"/>
            <a:ext cx="8302172" cy="51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ü"/>
            </a:pPr>
            <a:r>
              <a:rPr lang="en-US" sz="32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Annual </a:t>
            </a: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Depreciation = </a:t>
            </a:r>
            <a:r>
              <a:rPr lang="en-US" sz="32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$45,000</a:t>
            </a: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endParaRPr lang="en-US" sz="32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a:p>
            <a:pPr>
              <a:buFont typeface="Wingdings" panose="05000000000000000000" pitchFamily="2" charset="2"/>
              <a:buChar char="ü"/>
            </a:pPr>
            <a:r>
              <a:rPr lang="en-US" sz="32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Depreciation </a:t>
            </a: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Rate = </a:t>
            </a:r>
            <a:r>
              <a:rPr lang="en-US" sz="32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9%</a:t>
            </a: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p>
          <a:p>
            <a:pPr>
              <a:buFont typeface="Wingdings" panose="05000000000000000000" pitchFamily="2" charset="2"/>
              <a:buChar char="ü"/>
            </a:pP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Useful Life = </a:t>
            </a:r>
            <a:r>
              <a:rPr lang="en-US" sz="32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10 years</a:t>
            </a: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p>
          <a:p>
            <a:pPr>
              <a:buFont typeface="Wingdings" panose="05000000000000000000" pitchFamily="2" charset="2"/>
              <a:buChar char="ü"/>
            </a:pP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Total Depreciation = </a:t>
            </a:r>
            <a:r>
              <a:rPr lang="en-US" sz="32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$450,000</a:t>
            </a: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p>
          <a:p>
            <a:pPr>
              <a:buFont typeface="Wingdings" panose="05000000000000000000" pitchFamily="2" charset="2"/>
              <a:buChar char="ü"/>
            </a:pP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Final Book Value = </a:t>
            </a:r>
            <a:r>
              <a:rPr lang="en-US" sz="32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$50,000</a:t>
            </a:r>
            <a:r>
              <a:rPr lang="en-US" sz="32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p>
          <a:p>
            <a:pPr marL="0" indent="0">
              <a:buNone/>
            </a:pPr>
            <a:endParaRPr lang="en-US" sz="24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en-US" sz="2800" b="1"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Formula</a:t>
            </a:r>
            <a:r>
              <a:rPr lang="en-US" sz="28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a:t>
            </a:r>
          </a:p>
          <a:p>
            <a:r>
              <a:rPr lang="en-US" sz="24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Annual Depreciation = (Asset Cost − Scrap Value) ÷ Useful Life</a:t>
            </a:r>
            <a:endParaRPr lang="en-US" sz="24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24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($500,000 − $50,000) ÷ </a:t>
            </a:r>
            <a:r>
              <a:rPr lang="en-US" sz="2400" b="1"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10</a:t>
            </a:r>
            <a:r>
              <a:rPr lang="en-US" sz="24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r>
              <a:rPr lang="en-US" sz="2400" b="1"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r>
              <a:rPr lang="en-US" sz="2400" b="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$45,000</a:t>
            </a:r>
            <a:endParaRPr lang="en-US" sz="24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64175662"/>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 calcmode="lin" valueType="num">
                                      <p:cBhvr additive="base">
                                        <p:cTn id="24"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 calcmode="lin" valueType="num">
                                      <p:cBhvr additive="base">
                                        <p:cTn id="3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 calcmode="lin" valueType="num">
                                      <p:cBhvr additive="base">
                                        <p:cTn id="36"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 calcmode="lin" valueType="num">
                                      <p:cBhvr additive="base">
                                        <p:cTn id="42"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6">
                                            <p:txEl>
                                              <p:pRg st="7" end="7"/>
                                            </p:txEl>
                                          </p:spTgt>
                                        </p:tgtEl>
                                        <p:attrNameLst>
                                          <p:attrName>style.visibility</p:attrName>
                                        </p:attrNameLst>
                                      </p:cBhvr>
                                      <p:to>
                                        <p:strVal val="visible"/>
                                      </p:to>
                                    </p:set>
                                    <p:anim calcmode="lin" valueType="num">
                                      <p:cBhvr additive="base">
                                        <p:cTn id="48"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6">
                                            <p:txEl>
                                              <p:pRg st="8" end="8"/>
                                            </p:txEl>
                                          </p:spTgt>
                                        </p:tgtEl>
                                        <p:attrNameLst>
                                          <p:attrName>style.visibility</p:attrName>
                                        </p:attrNameLst>
                                      </p:cBhvr>
                                      <p:to>
                                        <p:strVal val="visible"/>
                                      </p:to>
                                    </p:set>
                                    <p:anim calcmode="lin" valueType="num">
                                      <p:cBhvr additive="base">
                                        <p:cTn id="54"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7495" y="579386"/>
            <a:ext cx="10111241" cy="1280890"/>
          </a:xfrm>
        </p:spPr>
        <p:txBody>
          <a:bodyPr>
            <a:noAutofit/>
          </a:bodyPr>
          <a:lstStyle/>
          <a:p>
            <a:r>
              <a:rPr lang="en-US" sz="6000" b="1" i="1" dirty="0">
                <a:solidFill>
                  <a:srgbClr val="3494BA"/>
                </a:solidFill>
                <a:latin typeface="Colonna MT" panose="04020805060202030203" pitchFamily="82" charset="0"/>
              </a:rPr>
              <a:t>Diminishing Balance Method</a:t>
            </a:r>
          </a:p>
        </p:txBody>
      </p:sp>
      <p:sp>
        <p:nvSpPr>
          <p:cNvPr id="3" name="Content Placeholder 2"/>
          <p:cNvSpPr>
            <a:spLocks noGrp="1"/>
          </p:cNvSpPr>
          <p:nvPr>
            <p:ph idx="1"/>
          </p:nvPr>
        </p:nvSpPr>
        <p:spPr>
          <a:xfrm>
            <a:off x="2202384" y="1471623"/>
            <a:ext cx="9167812" cy="5203370"/>
          </a:xfrm>
        </p:spPr>
        <p:txBody>
          <a:bodyPr>
            <a:noAutofit/>
          </a:bodyPr>
          <a:lstStyle/>
          <a:p>
            <a:pPr marL="0" indent="0">
              <a:buNone/>
            </a:pPr>
            <a:r>
              <a:rPr lang="en-US" sz="2000" b="1" dirty="0">
                <a:latin typeface="Calibri Light" panose="020F0302020204030204" pitchFamily="34" charset="0"/>
                <a:ea typeface="Calibri Light" panose="020F0302020204030204" pitchFamily="34" charset="0"/>
                <a:cs typeface="Calibri Light" panose="020F0302020204030204" pitchFamily="34" charset="0"/>
              </a:rPr>
              <a:t>Under the Diminishing Balance Method, depreciation is calculated on the opening book value of the asset each year. Therefore, the depreciation expense decreases over time</a:t>
            </a:r>
            <a:r>
              <a:rPr lang="en-US" sz="2000" b="1" dirty="0" smtClean="0">
                <a:latin typeface="Calibri Light" panose="020F0302020204030204" pitchFamily="34" charset="0"/>
                <a:ea typeface="Calibri Light" panose="020F0302020204030204" pitchFamily="34" charset="0"/>
                <a:cs typeface="Calibri Light" panose="020F0302020204030204" pitchFamily="34" charset="0"/>
              </a:rPr>
              <a:t>.</a:t>
            </a:r>
          </a:p>
          <a:p>
            <a:pPr>
              <a:buFont typeface="Wingdings" panose="05000000000000000000" pitchFamily="2" charset="2"/>
              <a:buChar char="ü"/>
            </a:pPr>
            <a:r>
              <a:rPr lang="en-US" sz="2400" dirty="0">
                <a:latin typeface="Calibri Light" panose="020F0302020204030204" pitchFamily="34" charset="0"/>
                <a:ea typeface="Calibri Light" panose="020F0302020204030204" pitchFamily="34" charset="0"/>
                <a:cs typeface="Calibri Light" panose="020F0302020204030204" pitchFamily="34" charset="0"/>
              </a:rPr>
              <a:t>Initial Asset Value = $500,000 </a:t>
            </a:r>
          </a:p>
          <a:p>
            <a:pPr>
              <a:buFont typeface="Wingdings" panose="05000000000000000000" pitchFamily="2" charset="2"/>
              <a:buChar char="ü"/>
            </a:pPr>
            <a:r>
              <a:rPr lang="en-US" sz="2400" dirty="0">
                <a:latin typeface="Calibri Light" panose="020F0302020204030204" pitchFamily="34" charset="0"/>
                <a:ea typeface="Calibri Light" panose="020F0302020204030204" pitchFamily="34" charset="0"/>
                <a:cs typeface="Calibri Light" panose="020F0302020204030204" pitchFamily="34" charset="0"/>
              </a:rPr>
              <a:t>Depreciation Rate = 20.57% </a:t>
            </a:r>
          </a:p>
          <a:p>
            <a:pPr>
              <a:buFont typeface="Wingdings" panose="05000000000000000000" pitchFamily="2" charset="2"/>
              <a:buChar char="ü"/>
            </a:pPr>
            <a:r>
              <a:rPr lang="en-US" sz="2400" dirty="0">
                <a:latin typeface="Calibri Light" panose="020F0302020204030204" pitchFamily="34" charset="0"/>
                <a:ea typeface="Calibri Light" panose="020F0302020204030204" pitchFamily="34" charset="0"/>
                <a:cs typeface="Calibri Light" panose="020F0302020204030204" pitchFamily="34" charset="0"/>
              </a:rPr>
              <a:t>Useful Life = 10 years </a:t>
            </a:r>
          </a:p>
          <a:p>
            <a:pPr>
              <a:buFont typeface="Wingdings" panose="05000000000000000000" pitchFamily="2" charset="2"/>
              <a:buChar char="ü"/>
            </a:pPr>
            <a:r>
              <a:rPr lang="en-US" sz="2400" dirty="0">
                <a:latin typeface="Calibri Light" panose="020F0302020204030204" pitchFamily="34" charset="0"/>
                <a:ea typeface="Calibri Light" panose="020F0302020204030204" pitchFamily="34" charset="0"/>
                <a:cs typeface="Calibri Light" panose="020F0302020204030204" pitchFamily="34" charset="0"/>
              </a:rPr>
              <a:t>Year 1 Depreciation = $102,835.88 </a:t>
            </a:r>
          </a:p>
          <a:p>
            <a:pPr>
              <a:buFont typeface="Wingdings" panose="05000000000000000000" pitchFamily="2" charset="2"/>
              <a:buChar char="ü"/>
            </a:pPr>
            <a:r>
              <a:rPr lang="en-US" sz="2400" dirty="0">
                <a:latin typeface="Calibri Light" panose="020F0302020204030204" pitchFamily="34" charset="0"/>
                <a:ea typeface="Calibri Light" panose="020F0302020204030204" pitchFamily="34" charset="0"/>
                <a:cs typeface="Calibri Light" panose="020F0302020204030204" pitchFamily="34" charset="0"/>
              </a:rPr>
              <a:t>Year 10 Depreciation = $12,946.27 </a:t>
            </a:r>
          </a:p>
          <a:p>
            <a:pPr>
              <a:buFont typeface="Wingdings" panose="05000000000000000000" pitchFamily="2" charset="2"/>
              <a:buChar char="ü"/>
            </a:pPr>
            <a:r>
              <a:rPr lang="en-US" sz="2400" dirty="0" smtClean="0">
                <a:latin typeface="Calibri Light" panose="020F0302020204030204" pitchFamily="34" charset="0"/>
                <a:ea typeface="Calibri Light" panose="020F0302020204030204" pitchFamily="34" charset="0"/>
                <a:cs typeface="Calibri Light" panose="020F0302020204030204" pitchFamily="34" charset="0"/>
              </a:rPr>
              <a:t>Book </a:t>
            </a:r>
            <a:r>
              <a:rPr lang="en-US" sz="2400" dirty="0">
                <a:latin typeface="Calibri Light" panose="020F0302020204030204" pitchFamily="34" charset="0"/>
                <a:ea typeface="Calibri Light" panose="020F0302020204030204" pitchFamily="34" charset="0"/>
                <a:cs typeface="Calibri Light" panose="020F0302020204030204" pitchFamily="34" charset="0"/>
              </a:rPr>
              <a:t>Value after Year 10 = $50,000 </a:t>
            </a:r>
            <a:endParaRPr lang="en-US" sz="2400" dirty="0" smtClean="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en-US" sz="2400" dirty="0">
                <a:latin typeface="Calibri Light" panose="020F0302020204030204" pitchFamily="34" charset="0"/>
                <a:ea typeface="Calibri Light" panose="020F0302020204030204" pitchFamily="34" charset="0"/>
                <a:cs typeface="Calibri Light" panose="020F0302020204030204" pitchFamily="34" charset="0"/>
              </a:rPr>
              <a:t>Formula:</a:t>
            </a:r>
          </a:p>
          <a:p>
            <a:r>
              <a:rPr lang="en-US" sz="2400" b="1" dirty="0">
                <a:latin typeface="Calibri Light" panose="020F0302020204030204" pitchFamily="34" charset="0"/>
                <a:ea typeface="Calibri Light" panose="020F0302020204030204" pitchFamily="34" charset="0"/>
                <a:cs typeface="Calibri Light" panose="020F0302020204030204" pitchFamily="34" charset="0"/>
              </a:rPr>
              <a:t>Depreciation = Opening Book Value × Depreciation Rate</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a:p>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289355584"/>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 calcmode="lin" valueType="num">
                                      <p:cBhvr additive="base">
                                        <p:cTn id="54"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anim calcmode="lin" valueType="num">
                                      <p:cBhvr additive="base">
                                        <p:cTn id="60"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029" y="449939"/>
            <a:ext cx="10154783" cy="1280890"/>
          </a:xfrm>
        </p:spPr>
        <p:txBody>
          <a:bodyPr>
            <a:noAutofit/>
          </a:bodyPr>
          <a:lstStyle/>
          <a:p>
            <a:r>
              <a:rPr lang="en-US" sz="6600" b="1" dirty="0">
                <a:solidFill>
                  <a:srgbClr val="3494BA"/>
                </a:solidFill>
                <a:latin typeface="Colonna MT" panose="04020805060202030203" pitchFamily="82" charset="0"/>
              </a:rPr>
              <a:t>Depreciation Comparison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65356606"/>
              </p:ext>
            </p:extLst>
          </p:nvPr>
        </p:nvGraphicFramePr>
        <p:xfrm>
          <a:off x="2589214" y="1730377"/>
          <a:ext cx="8543244" cy="3581856"/>
        </p:xfrm>
        <a:graphic>
          <a:graphicData uri="http://schemas.openxmlformats.org/drawingml/2006/table">
            <a:tbl>
              <a:tblPr firstRow="1" bandRow="1">
                <a:tableStyleId>{5C22544A-7EE6-4342-B048-85BDC9FD1C3A}</a:tableStyleId>
              </a:tblPr>
              <a:tblGrid>
                <a:gridCol w="4125366">
                  <a:extLst>
                    <a:ext uri="{9D8B030D-6E8A-4147-A177-3AD203B41FA5}">
                      <a16:colId xmlns:a16="http://schemas.microsoft.com/office/drawing/2014/main" val="1539469289"/>
                    </a:ext>
                  </a:extLst>
                </a:gridCol>
                <a:gridCol w="1738551">
                  <a:extLst>
                    <a:ext uri="{9D8B030D-6E8A-4147-A177-3AD203B41FA5}">
                      <a16:colId xmlns:a16="http://schemas.microsoft.com/office/drawing/2014/main" val="4193242835"/>
                    </a:ext>
                  </a:extLst>
                </a:gridCol>
                <a:gridCol w="2679327">
                  <a:extLst>
                    <a:ext uri="{9D8B030D-6E8A-4147-A177-3AD203B41FA5}">
                      <a16:colId xmlns:a16="http://schemas.microsoft.com/office/drawing/2014/main" val="3285534379"/>
                    </a:ext>
                  </a:extLst>
                </a:gridCol>
              </a:tblGrid>
              <a:tr h="447732">
                <a:tc>
                  <a:txBody>
                    <a:bodyPr/>
                    <a:lstStyle/>
                    <a:p>
                      <a:pPr algn="l"/>
                      <a:r>
                        <a:rPr lang="en-US" sz="2000" dirty="0"/>
                        <a:t>Particular</a:t>
                      </a:r>
                    </a:p>
                  </a:txBody>
                  <a:tcPr anchor="ctr"/>
                </a:tc>
                <a:tc>
                  <a:txBody>
                    <a:bodyPr/>
                    <a:lstStyle/>
                    <a:p>
                      <a:pPr algn="ctr"/>
                      <a:r>
                        <a:rPr lang="en-US" sz="2000" dirty="0"/>
                        <a:t>Straight Line</a:t>
                      </a:r>
                    </a:p>
                  </a:txBody>
                  <a:tcPr anchor="ctr"/>
                </a:tc>
                <a:tc>
                  <a:txBody>
                    <a:bodyPr/>
                    <a:lstStyle/>
                    <a:p>
                      <a:pPr algn="ctr"/>
                      <a:r>
                        <a:rPr lang="en-US" sz="2000" dirty="0"/>
                        <a:t>Diminishing Balance</a:t>
                      </a:r>
                    </a:p>
                  </a:txBody>
                  <a:tcPr anchor="ctr"/>
                </a:tc>
                <a:extLst>
                  <a:ext uri="{0D108BD9-81ED-4DB2-BD59-A6C34878D82A}">
                    <a16:rowId xmlns:a16="http://schemas.microsoft.com/office/drawing/2014/main" val="170619851"/>
                  </a:ext>
                </a:extLst>
              </a:tr>
              <a:tr h="447732">
                <a:tc>
                  <a:txBody>
                    <a:bodyPr/>
                    <a:lstStyle/>
                    <a:p>
                      <a:r>
                        <a:rPr lang="en-US" dirty="0"/>
                        <a:t>Asset Price</a:t>
                      </a:r>
                    </a:p>
                  </a:txBody>
                  <a:tcPr anchor="ctr"/>
                </a:tc>
                <a:tc>
                  <a:txBody>
                    <a:bodyPr/>
                    <a:lstStyle/>
                    <a:p>
                      <a:r>
                        <a:rPr lang="en-US" dirty="0"/>
                        <a:t>$500,000</a:t>
                      </a:r>
                    </a:p>
                  </a:txBody>
                  <a:tcPr anchor="ctr"/>
                </a:tc>
                <a:tc>
                  <a:txBody>
                    <a:bodyPr/>
                    <a:lstStyle/>
                    <a:p>
                      <a:r>
                        <a:rPr lang="en-US" dirty="0"/>
                        <a:t>$500,000</a:t>
                      </a:r>
                    </a:p>
                  </a:txBody>
                  <a:tcPr anchor="ctr"/>
                </a:tc>
                <a:extLst>
                  <a:ext uri="{0D108BD9-81ED-4DB2-BD59-A6C34878D82A}">
                    <a16:rowId xmlns:a16="http://schemas.microsoft.com/office/drawing/2014/main" val="441808833"/>
                  </a:ext>
                </a:extLst>
              </a:tr>
              <a:tr h="447732">
                <a:tc>
                  <a:txBody>
                    <a:bodyPr/>
                    <a:lstStyle/>
                    <a:p>
                      <a:r>
                        <a:rPr lang="en-US" dirty="0"/>
                        <a:t>Scrap Value</a:t>
                      </a:r>
                    </a:p>
                  </a:txBody>
                  <a:tcPr anchor="ctr"/>
                </a:tc>
                <a:tc>
                  <a:txBody>
                    <a:bodyPr/>
                    <a:lstStyle/>
                    <a:p>
                      <a:r>
                        <a:rPr lang="en-US"/>
                        <a:t>$50,000</a:t>
                      </a:r>
                    </a:p>
                  </a:txBody>
                  <a:tcPr anchor="ctr"/>
                </a:tc>
                <a:tc>
                  <a:txBody>
                    <a:bodyPr/>
                    <a:lstStyle/>
                    <a:p>
                      <a:r>
                        <a:rPr lang="en-US"/>
                        <a:t>$50,000</a:t>
                      </a:r>
                    </a:p>
                  </a:txBody>
                  <a:tcPr anchor="ctr"/>
                </a:tc>
                <a:extLst>
                  <a:ext uri="{0D108BD9-81ED-4DB2-BD59-A6C34878D82A}">
                    <a16:rowId xmlns:a16="http://schemas.microsoft.com/office/drawing/2014/main" val="3471780248"/>
                  </a:ext>
                </a:extLst>
              </a:tr>
              <a:tr h="447732">
                <a:tc>
                  <a:txBody>
                    <a:bodyPr/>
                    <a:lstStyle/>
                    <a:p>
                      <a:r>
                        <a:rPr lang="en-US" dirty="0"/>
                        <a:t>Useful Life</a:t>
                      </a:r>
                    </a:p>
                  </a:txBody>
                  <a:tcPr anchor="ctr"/>
                </a:tc>
                <a:tc>
                  <a:txBody>
                    <a:bodyPr/>
                    <a:lstStyle/>
                    <a:p>
                      <a:r>
                        <a:rPr lang="en-US"/>
                        <a:t>10 Years</a:t>
                      </a:r>
                    </a:p>
                  </a:txBody>
                  <a:tcPr anchor="ctr"/>
                </a:tc>
                <a:tc>
                  <a:txBody>
                    <a:bodyPr/>
                    <a:lstStyle/>
                    <a:p>
                      <a:r>
                        <a:rPr lang="en-US"/>
                        <a:t>10 Years</a:t>
                      </a:r>
                    </a:p>
                  </a:txBody>
                  <a:tcPr anchor="ctr"/>
                </a:tc>
                <a:extLst>
                  <a:ext uri="{0D108BD9-81ED-4DB2-BD59-A6C34878D82A}">
                    <a16:rowId xmlns:a16="http://schemas.microsoft.com/office/drawing/2014/main" val="2079910079"/>
                  </a:ext>
                </a:extLst>
              </a:tr>
              <a:tr h="447732">
                <a:tc>
                  <a:txBody>
                    <a:bodyPr/>
                    <a:lstStyle/>
                    <a:p>
                      <a:r>
                        <a:rPr lang="en-US" dirty="0"/>
                        <a:t>Depreciation Rate</a:t>
                      </a:r>
                    </a:p>
                  </a:txBody>
                  <a:tcPr anchor="ctr"/>
                </a:tc>
                <a:tc>
                  <a:txBody>
                    <a:bodyPr/>
                    <a:lstStyle/>
                    <a:p>
                      <a:r>
                        <a:rPr lang="en-US" dirty="0"/>
                        <a:t>9.00%</a:t>
                      </a:r>
                    </a:p>
                  </a:txBody>
                  <a:tcPr anchor="ctr"/>
                </a:tc>
                <a:tc>
                  <a:txBody>
                    <a:bodyPr/>
                    <a:lstStyle/>
                    <a:p>
                      <a:r>
                        <a:rPr lang="en-US"/>
                        <a:t>20.57%</a:t>
                      </a:r>
                    </a:p>
                  </a:txBody>
                  <a:tcPr anchor="ctr"/>
                </a:tc>
                <a:extLst>
                  <a:ext uri="{0D108BD9-81ED-4DB2-BD59-A6C34878D82A}">
                    <a16:rowId xmlns:a16="http://schemas.microsoft.com/office/drawing/2014/main" val="1192308412"/>
                  </a:ext>
                </a:extLst>
              </a:tr>
              <a:tr h="447732">
                <a:tc>
                  <a:txBody>
                    <a:bodyPr/>
                    <a:lstStyle/>
                    <a:p>
                      <a:r>
                        <a:rPr lang="en-US" dirty="0"/>
                        <a:t>Year 1 Depreciation</a:t>
                      </a:r>
                    </a:p>
                  </a:txBody>
                  <a:tcPr anchor="ctr"/>
                </a:tc>
                <a:tc>
                  <a:txBody>
                    <a:bodyPr/>
                    <a:lstStyle/>
                    <a:p>
                      <a:r>
                        <a:rPr lang="en-US" dirty="0"/>
                        <a:t>$45,000</a:t>
                      </a:r>
                    </a:p>
                  </a:txBody>
                  <a:tcPr anchor="ctr"/>
                </a:tc>
                <a:tc>
                  <a:txBody>
                    <a:bodyPr/>
                    <a:lstStyle/>
                    <a:p>
                      <a:r>
                        <a:rPr lang="en-US" dirty="0"/>
                        <a:t>$102,835.88</a:t>
                      </a:r>
                    </a:p>
                  </a:txBody>
                  <a:tcPr anchor="ctr"/>
                </a:tc>
                <a:extLst>
                  <a:ext uri="{0D108BD9-81ED-4DB2-BD59-A6C34878D82A}">
                    <a16:rowId xmlns:a16="http://schemas.microsoft.com/office/drawing/2014/main" val="3976559728"/>
                  </a:ext>
                </a:extLst>
              </a:tr>
              <a:tr h="447732">
                <a:tc>
                  <a:txBody>
                    <a:bodyPr/>
                    <a:lstStyle/>
                    <a:p>
                      <a:r>
                        <a:rPr lang="en-US"/>
                        <a:t>Year 10 Depreciation</a:t>
                      </a:r>
                    </a:p>
                  </a:txBody>
                  <a:tcPr anchor="ctr"/>
                </a:tc>
                <a:tc>
                  <a:txBody>
                    <a:bodyPr/>
                    <a:lstStyle/>
                    <a:p>
                      <a:r>
                        <a:rPr lang="en-US" dirty="0"/>
                        <a:t>$45,000</a:t>
                      </a:r>
                    </a:p>
                  </a:txBody>
                  <a:tcPr anchor="ctr"/>
                </a:tc>
                <a:tc>
                  <a:txBody>
                    <a:bodyPr/>
                    <a:lstStyle/>
                    <a:p>
                      <a:r>
                        <a:rPr lang="en-US" dirty="0"/>
                        <a:t>$12,946.27</a:t>
                      </a:r>
                    </a:p>
                  </a:txBody>
                  <a:tcPr anchor="ctr"/>
                </a:tc>
                <a:extLst>
                  <a:ext uri="{0D108BD9-81ED-4DB2-BD59-A6C34878D82A}">
                    <a16:rowId xmlns:a16="http://schemas.microsoft.com/office/drawing/2014/main" val="3524439507"/>
                  </a:ext>
                </a:extLst>
              </a:tr>
              <a:tr h="447732">
                <a:tc>
                  <a:txBody>
                    <a:bodyPr/>
                    <a:lstStyle/>
                    <a:p>
                      <a:r>
                        <a:rPr lang="en-US"/>
                        <a:t>Final Book Value</a:t>
                      </a:r>
                    </a:p>
                  </a:txBody>
                  <a:tcPr anchor="ctr"/>
                </a:tc>
                <a:tc>
                  <a:txBody>
                    <a:bodyPr/>
                    <a:lstStyle/>
                    <a:p>
                      <a:r>
                        <a:rPr lang="en-US" dirty="0"/>
                        <a:t>$50,000</a:t>
                      </a:r>
                    </a:p>
                  </a:txBody>
                  <a:tcPr anchor="ctr"/>
                </a:tc>
                <a:tc>
                  <a:txBody>
                    <a:bodyPr/>
                    <a:lstStyle/>
                    <a:p>
                      <a:r>
                        <a:rPr lang="en-US" dirty="0"/>
                        <a:t>$50,000</a:t>
                      </a:r>
                    </a:p>
                  </a:txBody>
                  <a:tcPr anchor="ctr"/>
                </a:tc>
                <a:extLst>
                  <a:ext uri="{0D108BD9-81ED-4DB2-BD59-A6C34878D82A}">
                    <a16:rowId xmlns:a16="http://schemas.microsoft.com/office/drawing/2014/main" val="2801328153"/>
                  </a:ext>
                </a:extLst>
              </a:tr>
            </a:tbl>
          </a:graphicData>
        </a:graphic>
      </p:graphicFrame>
      <p:sp>
        <p:nvSpPr>
          <p:cNvPr id="6" name="Rectangle 5"/>
          <p:cNvSpPr/>
          <p:nvPr/>
        </p:nvSpPr>
        <p:spPr>
          <a:xfrm>
            <a:off x="2946399" y="5689600"/>
            <a:ext cx="8868229" cy="1016000"/>
          </a:xfrm>
          <a:prstGeom prst="rect">
            <a:avLst/>
          </a:prstGeom>
          <a:solidFill>
            <a:srgbClr val="373545"/>
          </a:solid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3494BA"/>
                </a:solidFill>
                <a:latin typeface="Calibri Light" panose="020F0302020204030204" pitchFamily="34" charset="0"/>
                <a:ea typeface="Calibri Light" panose="020F0302020204030204" pitchFamily="34" charset="0"/>
                <a:cs typeface="Calibri Light" panose="020F0302020204030204" pitchFamily="34" charset="0"/>
              </a:rPr>
              <a:t>Straight Line Method → Constant annual </a:t>
            </a:r>
            <a:r>
              <a:rPr lang="en-US" sz="2000" b="1" dirty="0" smtClean="0">
                <a:solidFill>
                  <a:srgbClr val="3494BA"/>
                </a:solidFill>
                <a:latin typeface="Calibri Light" panose="020F0302020204030204" pitchFamily="34" charset="0"/>
                <a:ea typeface="Calibri Light" panose="020F0302020204030204" pitchFamily="34" charset="0"/>
                <a:cs typeface="Calibri Light" panose="020F0302020204030204" pitchFamily="34" charset="0"/>
              </a:rPr>
              <a:t>depreciation.</a:t>
            </a:r>
            <a:r>
              <a:rPr lang="en-US" sz="2000" dirty="0">
                <a:solidFill>
                  <a:srgbClr val="3494BA"/>
                </a:solidFill>
                <a:latin typeface="Calibri Light" panose="020F0302020204030204" pitchFamily="34" charset="0"/>
                <a:ea typeface="Calibri Light" panose="020F0302020204030204" pitchFamily="34" charset="0"/>
                <a:cs typeface="Calibri Light" panose="020F0302020204030204" pitchFamily="34" charset="0"/>
              </a:rPr>
              <a:t/>
            </a:r>
            <a:br>
              <a:rPr lang="en-US" sz="2000" dirty="0">
                <a:solidFill>
                  <a:srgbClr val="3494BA"/>
                </a:solidFill>
                <a:latin typeface="Calibri Light" panose="020F0302020204030204" pitchFamily="34" charset="0"/>
                <a:ea typeface="Calibri Light" panose="020F0302020204030204" pitchFamily="34" charset="0"/>
                <a:cs typeface="Calibri Light" panose="020F0302020204030204" pitchFamily="34" charset="0"/>
              </a:rPr>
            </a:br>
            <a:r>
              <a:rPr lang="en-US" sz="2000" b="1" dirty="0">
                <a:solidFill>
                  <a:srgbClr val="3494BA"/>
                </a:solidFill>
                <a:latin typeface="Calibri Light" panose="020F0302020204030204" pitchFamily="34" charset="0"/>
                <a:ea typeface="Calibri Light" panose="020F0302020204030204" pitchFamily="34" charset="0"/>
                <a:cs typeface="Calibri Light" panose="020F0302020204030204" pitchFamily="34" charset="0"/>
              </a:rPr>
              <a:t>Diminishing Balance Method → Higher depreciation initially, decreasing over time</a:t>
            </a:r>
            <a:endParaRPr lang="en-US" sz="2000" dirty="0">
              <a:solidFill>
                <a:srgbClr val="3494BA"/>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936994600"/>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4053" y="620794"/>
            <a:ext cx="10647947" cy="1280890"/>
          </a:xfrm>
        </p:spPr>
        <p:txBody>
          <a:bodyPr>
            <a:noAutofit/>
          </a:bodyPr>
          <a:lstStyle/>
          <a:p>
            <a:r>
              <a:rPr lang="en-US" sz="4800" b="1" i="1" dirty="0">
                <a:solidFill>
                  <a:srgbClr val="3494BA"/>
                </a:solidFill>
                <a:latin typeface="Colonna MT" panose="04020805060202030203" pitchFamily="82" charset="0"/>
              </a:rPr>
              <a:t>Straight Line vs Diminishing Balance</a:t>
            </a:r>
          </a:p>
        </p:txBody>
      </p:sp>
      <p:graphicFrame>
        <p:nvGraphicFramePr>
          <p:cNvPr id="11" name="Chart 10"/>
          <p:cNvGraphicFramePr>
            <a:graphicFrameLocks/>
          </p:cNvGraphicFramePr>
          <p:nvPr>
            <p:extLst>
              <p:ext uri="{D42A27DB-BD31-4B8C-83A1-F6EECF244321}">
                <p14:modId xmlns:p14="http://schemas.microsoft.com/office/powerpoint/2010/main" val="2105627127"/>
              </p:ext>
            </p:extLst>
          </p:nvPr>
        </p:nvGraphicFramePr>
        <p:xfrm>
          <a:off x="813257" y="1636763"/>
          <a:ext cx="5416093" cy="47555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ontent Placeholder 12"/>
          <p:cNvGraphicFramePr>
            <a:graphicFrameLocks noGrp="1"/>
          </p:cNvGraphicFramePr>
          <p:nvPr>
            <p:ph sz="quarter" idx="4"/>
            <p:extLst>
              <p:ext uri="{D42A27DB-BD31-4B8C-83A1-F6EECF244321}">
                <p14:modId xmlns:p14="http://schemas.microsoft.com/office/powerpoint/2010/main" val="3019166918"/>
              </p:ext>
            </p:extLst>
          </p:nvPr>
        </p:nvGraphicFramePr>
        <p:xfrm>
          <a:off x="6388328" y="1636763"/>
          <a:ext cx="5416093" cy="47555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42590138"/>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heel(1)">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heel(1)">
                                      <p:cBhvr>
                                        <p:cTn id="1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1" grpId="0">
        <p:bldAsOne/>
      </p:bldGraphic>
      <p:bldGraphic spid="13"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1046162" y="247650"/>
            <a:ext cx="8915400" cy="838200"/>
          </a:xfrm>
        </p:spPr>
        <p:txBody>
          <a:bodyPr/>
          <a:lstStyle/>
          <a:p>
            <a:r>
              <a:rPr lang="en-US" sz="4800" b="1" i="1" dirty="0">
                <a:latin typeface="Colonna MT" panose="04020805060202030203" pitchFamily="82" charset="0"/>
                <a:ea typeface="Calibri Light" panose="020F0302020204030204" pitchFamily="34" charset="0"/>
                <a:cs typeface="Calibri Light" panose="020F0302020204030204" pitchFamily="34" charset="0"/>
              </a:rPr>
              <a:t>Key Insights &amp; Conclusion</a:t>
            </a:r>
          </a:p>
        </p:txBody>
      </p:sp>
      <p:sp>
        <p:nvSpPr>
          <p:cNvPr id="6" name="Rectangle 2"/>
          <p:cNvSpPr>
            <a:spLocks noGrp="1" noChangeArrowheads="1"/>
          </p:cNvSpPr>
          <p:nvPr>
            <p:ph type="title"/>
          </p:nvPr>
        </p:nvSpPr>
        <p:spPr bwMode="auto">
          <a:xfrm>
            <a:off x="1485900" y="1229065"/>
            <a:ext cx="10546443" cy="3154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Aft>
                <a:spcPct val="0"/>
              </a:spcAft>
            </a:pPr>
            <a:r>
              <a:rPr lang="en-US" sz="2400" b="1" dirty="0">
                <a:latin typeface="Calibri Light" panose="020F0302020204030204" pitchFamily="34" charset="0"/>
                <a:ea typeface="Calibri Light" panose="020F0302020204030204" pitchFamily="34" charset="0"/>
                <a:cs typeface="Calibri Light" panose="020F0302020204030204" pitchFamily="34" charset="0"/>
              </a:rPr>
              <a:t>Key </a:t>
            </a:r>
            <a:r>
              <a:rPr lang="en-US" sz="2400" b="1" dirty="0" smtClean="0">
                <a:latin typeface="Calibri Light" panose="020F0302020204030204" pitchFamily="34" charset="0"/>
                <a:ea typeface="Calibri Light" panose="020F0302020204030204" pitchFamily="34" charset="0"/>
                <a:cs typeface="Calibri Light" panose="020F0302020204030204" pitchFamily="34" charset="0"/>
              </a:rPr>
              <a:t>Insights</a:t>
            </a:r>
            <a:endParaRPr kumimoji="0" lang="en-US" altLang="en-US" sz="24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asset has an initial value </a:t>
            </a:r>
            <a:r>
              <a:rPr kumimoji="0" lang="en-US" altLang="en-US" sz="2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of $500,000 </a:t>
            </a: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and an estimated scrap value of </a:t>
            </a:r>
            <a:r>
              <a:rPr kumimoji="0" lang="en-US" altLang="en-US" sz="2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$50,000</a:t>
            </a: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Under the Straight Line Method, depreciation remains constant </a:t>
            </a:r>
            <a:r>
              <a:rPr kumimoji="0" lang="en-US" altLang="en-US" sz="2200" b="1"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$45,000 </a:t>
            </a: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per year.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Under the Diminishing Balance Method, depreciation is highest during the initial years.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Diminishing Balance depreciation reduces progressively because it is calculated on the reducing book value.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Both methods ultimately bring the asset's book value close to its estimated scrap value.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i="0" u="none" strike="noStrike" cap="none" normalizeH="0" baseline="0" dirty="0" smtClean="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choice of depreciation method affects the timing of depreciation expense and therefore the pattern of reported profit. </a:t>
            </a:r>
          </a:p>
        </p:txBody>
      </p:sp>
      <p:sp>
        <p:nvSpPr>
          <p:cNvPr id="7" name="Title 1"/>
          <p:cNvSpPr txBox="1">
            <a:spLocks/>
          </p:cNvSpPr>
          <p:nvPr/>
        </p:nvSpPr>
        <p:spPr>
          <a:xfrm>
            <a:off x="2516666" y="4858319"/>
            <a:ext cx="9675334" cy="149853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b="1" dirty="0" smtClean="0">
                <a:latin typeface="Calibri Light" panose="020F0302020204030204" pitchFamily="34" charset="0"/>
                <a:ea typeface="Calibri Light" panose="020F0302020204030204" pitchFamily="34" charset="0"/>
                <a:cs typeface="Calibri Light" panose="020F0302020204030204" pitchFamily="34" charset="0"/>
              </a:rPr>
              <a:t>Conclusion:</a:t>
            </a:r>
          </a:p>
          <a:p>
            <a:r>
              <a:rPr lang="en-US" sz="1800" dirty="0" smtClean="0">
                <a:latin typeface="Calibri Light" panose="020F0302020204030204" pitchFamily="34" charset="0"/>
                <a:ea typeface="Calibri Light" panose="020F0302020204030204" pitchFamily="34" charset="0"/>
                <a:cs typeface="Calibri Light" panose="020F0302020204030204" pitchFamily="34" charset="0"/>
              </a:rPr>
              <a:t>The </a:t>
            </a:r>
            <a:r>
              <a:rPr lang="en-US" sz="1800" dirty="0">
                <a:latin typeface="Calibri Light" panose="020F0302020204030204" pitchFamily="34" charset="0"/>
                <a:ea typeface="Calibri Light" panose="020F0302020204030204" pitchFamily="34" charset="0"/>
                <a:cs typeface="Calibri Light" panose="020F0302020204030204" pitchFamily="34" charset="0"/>
              </a:rPr>
              <a:t>analysis demonstrates that the Straight Line Method provides a consistent depreciation expense, whereas the Diminishing Balance Method recognizes a larger portion of depreciation during the earlier years of an asset's useful life. Therefore, the appropriate method should be selected based on the expected pattern of economic benefits or asset usage.</a:t>
            </a:r>
            <a:endParaRPr lang="en-US" sz="2000" i="1"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961998782"/>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6858000"/>
          </a:xfrm>
        </p:spPr>
        <p:txBody>
          <a:bodyPr>
            <a:noAutofit/>
          </a:bodyPr>
          <a:lstStyle/>
          <a:p>
            <a:pPr algn="ctr"/>
            <a:r>
              <a:rPr lang="en-US" sz="7200" b="1" dirty="0" smtClean="0">
                <a:solidFill>
                  <a:srgbClr val="3494BA"/>
                </a:solidFill>
                <a:latin typeface="Blackadder ITC" panose="04020505051007020D02" pitchFamily="82" charset="0"/>
              </a:rPr>
              <a:t>Thank </a:t>
            </a:r>
            <a:r>
              <a:rPr lang="en-US" sz="7200" b="1" dirty="0">
                <a:solidFill>
                  <a:srgbClr val="3494BA"/>
                </a:solidFill>
                <a:latin typeface="Blackadder ITC" panose="04020505051007020D02" pitchFamily="82" charset="0"/>
              </a:rPr>
              <a:t>you for your </a:t>
            </a:r>
            <a:r>
              <a:rPr lang="en-US" sz="7200" b="1" dirty="0" smtClean="0">
                <a:solidFill>
                  <a:srgbClr val="3494BA"/>
                </a:solidFill>
                <a:latin typeface="Blackadder ITC" panose="04020505051007020D02" pitchFamily="82" charset="0"/>
              </a:rPr>
              <a:t>time </a:t>
            </a:r>
            <a:br>
              <a:rPr lang="en-US" sz="7200" b="1" dirty="0" smtClean="0">
                <a:solidFill>
                  <a:srgbClr val="3494BA"/>
                </a:solidFill>
                <a:latin typeface="Blackadder ITC" panose="04020505051007020D02" pitchFamily="82" charset="0"/>
              </a:rPr>
            </a:br>
            <a:r>
              <a:rPr lang="en-US" sz="7200" b="1" dirty="0" smtClean="0">
                <a:solidFill>
                  <a:srgbClr val="3494BA"/>
                </a:solidFill>
                <a:latin typeface="Blackadder ITC" panose="04020505051007020D02" pitchFamily="82" charset="0"/>
              </a:rPr>
              <a:t>and attention</a:t>
            </a:r>
            <a:r>
              <a:rPr lang="en-US" sz="7200" b="1" dirty="0">
                <a:solidFill>
                  <a:srgbClr val="3494BA"/>
                </a:solidFill>
                <a:latin typeface="Blackadder ITC" panose="04020505051007020D02" pitchFamily="82" charset="0"/>
              </a:rPr>
              <a:t>.</a:t>
            </a:r>
            <a:br>
              <a:rPr lang="en-US" sz="7200" b="1" dirty="0">
                <a:solidFill>
                  <a:srgbClr val="3494BA"/>
                </a:solidFill>
                <a:latin typeface="Blackadder ITC" panose="04020505051007020D02" pitchFamily="82" charset="0"/>
              </a:rPr>
            </a:br>
            <a:endParaRPr lang="en-US" sz="7200" dirty="0">
              <a:solidFill>
                <a:srgbClr val="3494BA"/>
              </a:solidFill>
              <a:latin typeface="Blackadder ITC" panose="04020505051007020D02" pitchFamily="82" charset="0"/>
            </a:endParaRPr>
          </a:p>
        </p:txBody>
      </p:sp>
      <p:sp>
        <p:nvSpPr>
          <p:cNvPr id="8" name="Text Placeholder 3"/>
          <p:cNvSpPr>
            <a:spLocks noGrp="1"/>
          </p:cNvSpPr>
          <p:nvPr>
            <p:ph type="body" sz="half" idx="2"/>
          </p:nvPr>
        </p:nvSpPr>
        <p:spPr>
          <a:xfrm>
            <a:off x="1553659" y="4932343"/>
            <a:ext cx="8266202" cy="1925657"/>
          </a:xfrm>
        </p:spPr>
        <p:txBody>
          <a:bodyPr>
            <a:noAutofit/>
          </a:bodyPr>
          <a:lstStyle/>
          <a:p>
            <a:r>
              <a:rPr lang="en-US" sz="3000" b="1" dirty="0">
                <a:solidFill>
                  <a:srgbClr val="373545"/>
                </a:solidFill>
                <a:latin typeface="Harlow Solid Italic" panose="04030604020F02020D02" pitchFamily="82" charset="0"/>
              </a:rPr>
              <a:t>Prepared by: </a:t>
            </a:r>
            <a:r>
              <a:rPr lang="en-US" sz="3000" b="1" dirty="0" smtClean="0">
                <a:solidFill>
                  <a:srgbClr val="373545"/>
                </a:solidFill>
                <a:latin typeface="Harlow Solid Italic" panose="04030604020F02020D02" pitchFamily="82" charset="0"/>
              </a:rPr>
              <a:t>Nandini Rajput </a:t>
            </a:r>
            <a:r>
              <a:rPr lang="en-US" sz="1400" b="1" dirty="0" smtClean="0">
                <a:solidFill>
                  <a:srgbClr val="373545"/>
                </a:solidFill>
                <a:latin typeface="Harlow Solid Italic" panose="04030604020F02020D02" pitchFamily="82" charset="0"/>
              </a:rPr>
              <a:t>(</a:t>
            </a:r>
            <a:r>
              <a:rPr lang="en-US" sz="1400" dirty="0">
                <a:latin typeface="Harlow Solid Italic" panose="04030604020F02020D02" pitchFamily="82" charset="0"/>
              </a:rPr>
              <a:t>MBA – Finance | CMA</a:t>
            </a:r>
            <a:r>
              <a:rPr lang="en-US" sz="1400" b="1" dirty="0" smtClean="0">
                <a:solidFill>
                  <a:srgbClr val="373545"/>
                </a:solidFill>
                <a:latin typeface="Harlow Solid Italic" panose="04030604020F02020D02" pitchFamily="82" charset="0"/>
              </a:rPr>
              <a:t>)</a:t>
            </a:r>
          </a:p>
          <a:p>
            <a:r>
              <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 </a:t>
            </a:r>
          </a:p>
          <a:p>
            <a:r>
              <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Batch CX-198-MOR-AUG-2026 </a:t>
            </a:r>
          </a:p>
          <a:p>
            <a:r>
              <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Excel </a:t>
            </a:r>
            <a:r>
              <a:rPr lang="en-US" sz="1600" dirty="0">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project guided by </a:t>
            </a:r>
            <a:r>
              <a:rPr lang="en-US" sz="1600" dirty="0" err="1">
                <a:solidFill>
                  <a:srgbClr val="373545"/>
                </a:solidFill>
                <a:latin typeface="Calibri Light" panose="020F0302020204030204" pitchFamily="34" charset="0"/>
                <a:ea typeface="Calibri Light" panose="020F0302020204030204" pitchFamily="34" charset="0"/>
                <a:cs typeface="Calibri Light" panose="020F0302020204030204" pitchFamily="34" charset="0"/>
              </a:rPr>
              <a:t>Manju</a:t>
            </a:r>
            <a:endParaRPr lang="en-US" sz="1600" dirty="0" smtClean="0">
              <a:solidFill>
                <a:srgbClr val="373545"/>
              </a:solidFill>
              <a:latin typeface="Calibri Light" panose="020F0302020204030204" pitchFamily="34" charset="0"/>
              <a:ea typeface="Calibri Light" panose="020F0302020204030204" pitchFamily="34" charset="0"/>
              <a:cs typeface="Calibri Light" panose="020F0302020204030204" pitchFamily="34" charset="0"/>
            </a:endParaRPr>
          </a:p>
          <a:p>
            <a:endParaRPr lang="en-US" sz="3200" b="1" dirty="0" smtClean="0">
              <a:solidFill>
                <a:srgbClr val="373545"/>
              </a:solidFill>
              <a:latin typeface="Harlow Solid Italic" panose="04030604020F02020D02" pitchFamily="82" charset="0"/>
            </a:endParaRPr>
          </a:p>
        </p:txBody>
      </p:sp>
      <p:sp>
        <p:nvSpPr>
          <p:cNvPr id="9" name="Text Placeholder 3"/>
          <p:cNvSpPr txBox="1">
            <a:spLocks/>
          </p:cNvSpPr>
          <p:nvPr/>
        </p:nvSpPr>
        <p:spPr>
          <a:xfrm>
            <a:off x="7381460" y="6006706"/>
            <a:ext cx="5237412" cy="851294"/>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2400" b="1" dirty="0">
                <a:latin typeface="Harlow Solid Italic" panose="04030604020F02020D02" pitchFamily="82" charset="0"/>
              </a:rPr>
              <a:t>Project: financial analytics with </a:t>
            </a:r>
            <a:r>
              <a:rPr lang="en-US" sz="2400" b="1" dirty="0" smtClean="0">
                <a:latin typeface="Harlow Solid Italic" panose="04030604020F02020D02" pitchFamily="82" charset="0"/>
              </a:rPr>
              <a:t>AI 									</a:t>
            </a:r>
            <a:r>
              <a:rPr lang="en-US" sz="2000" dirty="0" err="1" smtClean="0">
                <a:latin typeface="Harlow Solid Italic" panose="04030604020F02020D02" pitchFamily="82" charset="0"/>
              </a:rPr>
              <a:t>CoachX.live</a:t>
            </a:r>
            <a:endParaRPr lang="en-US" sz="2400" dirty="0" smtClean="0">
              <a:solidFill>
                <a:srgbClr val="373545"/>
              </a:solidFill>
              <a:latin typeface="Harlow Solid Italic" panose="04030604020F02020D02" pitchFamily="82" charset="0"/>
            </a:endParaRPr>
          </a:p>
        </p:txBody>
      </p:sp>
    </p:spTree>
    <p:extLst>
      <p:ext uri="{BB962C8B-B14F-4D97-AF65-F5344CB8AC3E}">
        <p14:creationId xmlns:p14="http://schemas.microsoft.com/office/powerpoint/2010/main" val="414806443"/>
      </p:ext>
    </p:extLst>
  </p:cSld>
  <p:clrMapOvr>
    <a:masterClrMapping/>
  </p:clrMapOvr>
  <mc:AlternateContent xmlns:mc="http://schemas.openxmlformats.org/markup-compatibility/2006">
    <mc:Choice xmlns:p14="http://schemas.microsoft.com/office/powerpoint/2010/main" Requires="p14">
      <p:transition spd="slow" p14:dur="1250" advClick="0" advTm="3000">
        <p14:switch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4"/>
                                        </p:tgtEl>
                                        <p:attrNameLst>
                                          <p:attrName>ppt_x</p:attrName>
                                          <p:attrName>ppt_y</p:attrName>
                                        </p:attrNameLst>
                                      </p:cBhvr>
                                    </p:animMotion>
                                    <p:animRot by="1500000">
                                      <p:cBhvr>
                                        <p:cTn id="7" dur="125" fill="hold">
                                          <p:stCondLst>
                                            <p:cond delay="0"/>
                                          </p:stCondLst>
                                        </p:cTn>
                                        <p:tgtEl>
                                          <p:spTgt spid="4"/>
                                        </p:tgtEl>
                                        <p:attrNameLst>
                                          <p:attrName>r</p:attrName>
                                        </p:attrNameLst>
                                      </p:cBhvr>
                                    </p:animRot>
                                    <p:animRot by="-1500000">
                                      <p:cBhvr>
                                        <p:cTn id="8" dur="125" fill="hold">
                                          <p:stCondLst>
                                            <p:cond delay="125"/>
                                          </p:stCondLst>
                                        </p:cTn>
                                        <p:tgtEl>
                                          <p:spTgt spid="4"/>
                                        </p:tgtEl>
                                        <p:attrNameLst>
                                          <p:attrName>r</p:attrName>
                                        </p:attrNameLst>
                                      </p:cBhvr>
                                    </p:animRot>
                                    <p:animRot by="-1500000">
                                      <p:cBhvr>
                                        <p:cTn id="9" dur="125" fill="hold">
                                          <p:stCondLst>
                                            <p:cond delay="250"/>
                                          </p:stCondLst>
                                        </p:cTn>
                                        <p:tgtEl>
                                          <p:spTgt spid="4"/>
                                        </p:tgtEl>
                                        <p:attrNameLst>
                                          <p:attrName>r</p:attrName>
                                        </p:attrNameLst>
                                      </p:cBhvr>
                                    </p:animRot>
                                    <p:animRot by="1500000">
                                      <p:cBhvr>
                                        <p:cTn id="10" dur="125" fill="hold">
                                          <p:stCondLst>
                                            <p:cond delay="375"/>
                                          </p:stCondLst>
                                        </p:cTn>
                                        <p:tgtEl>
                                          <p:spTgt spid="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par>
                                <p:cTn id="16" presetID="14" presetClass="entr" presetSubtype="1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horizont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Wisp">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TM02836342[[fn=Ion]]</Template>
  <TotalTime>176</TotalTime>
  <Words>589</Words>
  <Application>Microsoft Office PowerPoint</Application>
  <PresentationFormat>Widescreen</PresentationFormat>
  <Paragraphs>100</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Blackadder ITC</vt:lpstr>
      <vt:lpstr>Calibri Light</vt:lpstr>
      <vt:lpstr>Century Gothic</vt:lpstr>
      <vt:lpstr>Colonna MT</vt:lpstr>
      <vt:lpstr>Harlow Solid Italic</vt:lpstr>
      <vt:lpstr>Wingdings</vt:lpstr>
      <vt:lpstr>Wingdings 3</vt:lpstr>
      <vt:lpstr>Wisp</vt:lpstr>
      <vt:lpstr>  Depreciation Analysis Using Excel  </vt:lpstr>
      <vt:lpstr> Project Objective </vt:lpstr>
      <vt:lpstr> Asset Information</vt:lpstr>
      <vt:lpstr>Straight Line Method</vt:lpstr>
      <vt:lpstr>Diminishing Balance Method</vt:lpstr>
      <vt:lpstr>Depreciation Comparison</vt:lpstr>
      <vt:lpstr>Straight Line vs Diminishing Balance</vt:lpstr>
      <vt:lpstr>Key Insights The asset has an initial value of $500,000 and an estimated scrap value of $50,000.  Under the Straight Line Method, depreciation remains constant at $45,000 per year.  Under the Diminishing Balance Method, depreciation is highest during the initial years.  Diminishing Balance depreciation reduces progressively because it is calculated on the reducing book value.  Both methods ultimately bring the asset's book value close to its estimated scrap value.  The choice of depreciation method affects the timing of depreciation expense and therefore the pattern of reported profit. </vt:lpstr>
      <vt:lpstr>Thank you for your time  and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Depreciation Analysis Using Diminishing Balance Method</dc:title>
  <dc:creator>nandini rajput</dc:creator>
  <cp:lastModifiedBy>nandini rajput</cp:lastModifiedBy>
  <cp:revision>23</cp:revision>
  <cp:lastPrinted>2026-10-07T19:45:22Z</cp:lastPrinted>
  <dcterms:created xsi:type="dcterms:W3CDTF">2026-10-06T15:31:10Z</dcterms:created>
  <dcterms:modified xsi:type="dcterms:W3CDTF">2026-10-08T07:57:50Z</dcterms:modified>
</cp:coreProperties>
</file>